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262" r:id="rId6"/>
    <p:sldId id="263" r:id="rId7"/>
    <p:sldId id="260" r:id="rId8"/>
    <p:sldId id="264" r:id="rId9"/>
    <p:sldId id="265" r:id="rId10"/>
    <p:sldId id="268" r:id="rId11"/>
    <p:sldId id="303" r:id="rId12"/>
    <p:sldId id="301" r:id="rId13"/>
    <p:sldId id="266" r:id="rId14"/>
    <p:sldId id="267" r:id="rId15"/>
    <p:sldId id="270" r:id="rId16"/>
    <p:sldId id="271" r:id="rId17"/>
    <p:sldId id="272" r:id="rId18"/>
    <p:sldId id="273" r:id="rId19"/>
    <p:sldId id="276" r:id="rId20"/>
    <p:sldId id="302" r:id="rId21"/>
    <p:sldId id="304" r:id="rId22"/>
    <p:sldId id="274" r:id="rId23"/>
    <p:sldId id="275" r:id="rId24"/>
    <p:sldId id="269" r:id="rId25"/>
    <p:sldId id="25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4B4BD-77D9-4926-941F-355D27C34A05}" v="1" dt="2026-07-12T08:22:27.8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na Chetry" userId="86827ce508f61ca7" providerId="LiveId" clId="{C3B4BF9A-1C51-4F1B-9883-F925345FDDF8}"/>
    <pc:docChg chg="custSel modSld">
      <pc:chgData name="Panna Chetry" userId="86827ce508f61ca7" providerId="LiveId" clId="{C3B4BF9A-1C51-4F1B-9883-F925345FDDF8}" dt="2026-07-12T08:44:20.823" v="301" actId="20577"/>
      <pc:docMkLst>
        <pc:docMk/>
      </pc:docMkLst>
      <pc:sldChg chg="modSp mod">
        <pc:chgData name="Panna Chetry" userId="86827ce508f61ca7" providerId="LiveId" clId="{C3B4BF9A-1C51-4F1B-9883-F925345FDDF8}" dt="2026-07-12T08:44:20.823" v="301" actId="20577"/>
        <pc:sldMkLst>
          <pc:docMk/>
          <pc:sldMk cId="4276892104" sldId="270"/>
        </pc:sldMkLst>
        <pc:spChg chg="mod">
          <ac:chgData name="Panna Chetry" userId="86827ce508f61ca7" providerId="LiveId" clId="{C3B4BF9A-1C51-4F1B-9883-F925345FDDF8}" dt="2026-07-12T08:44:20.823" v="301" actId="20577"/>
          <ac:spMkLst>
            <pc:docMk/>
            <pc:sldMk cId="4276892104" sldId="270"/>
            <ac:spMk id="4" creationId="{B6FA37AD-F22F-5FD7-A890-FED6C46156EA}"/>
          </ac:spMkLst>
        </pc:spChg>
      </pc:sldChg>
      <pc:sldChg chg="addSp delSp modSp mod">
        <pc:chgData name="Panna Chetry" userId="86827ce508f61ca7" providerId="LiveId" clId="{C3B4BF9A-1C51-4F1B-9883-F925345FDDF8}" dt="2026-07-12T08:31:45.246" v="266" actId="14100"/>
        <pc:sldMkLst>
          <pc:docMk/>
          <pc:sldMk cId="2230214870" sldId="272"/>
        </pc:sldMkLst>
        <pc:spChg chg="add del mod">
          <ac:chgData name="Panna Chetry" userId="86827ce508f61ca7" providerId="LiveId" clId="{C3B4BF9A-1C51-4F1B-9883-F925345FDDF8}" dt="2026-07-12T08:31:32.419" v="264" actId="22"/>
          <ac:spMkLst>
            <pc:docMk/>
            <pc:sldMk cId="2230214870" sldId="272"/>
            <ac:spMk id="5" creationId="{57293A37-E5B2-6128-B52A-86BCB878C051}"/>
          </ac:spMkLst>
        </pc:spChg>
        <pc:picChg chg="add mod ord">
          <ac:chgData name="Panna Chetry" userId="86827ce508f61ca7" providerId="LiveId" clId="{C3B4BF9A-1C51-4F1B-9883-F925345FDDF8}" dt="2026-07-12T08:31:45.246" v="266" actId="14100"/>
          <ac:picMkLst>
            <pc:docMk/>
            <pc:sldMk cId="2230214870" sldId="272"/>
            <ac:picMk id="7" creationId="{FA283884-D277-21C1-48F2-F5DFEF87A43C}"/>
          </ac:picMkLst>
        </pc:picChg>
        <pc:picChg chg="del">
          <ac:chgData name="Panna Chetry" userId="86827ce508f61ca7" providerId="LiveId" clId="{C3B4BF9A-1C51-4F1B-9883-F925345FDDF8}" dt="2026-07-12T08:31:29.222" v="263" actId="478"/>
          <ac:picMkLst>
            <pc:docMk/>
            <pc:sldMk cId="2230214870" sldId="272"/>
            <ac:picMk id="9" creationId="{20B4C43A-31C3-448A-27A9-7CEB68837C6D}"/>
          </ac:picMkLst>
        </pc:picChg>
      </pc:sldChg>
      <pc:sldChg chg="addSp modSp mod">
        <pc:chgData name="Panna Chetry" userId="86827ce508f61ca7" providerId="LiveId" clId="{C3B4BF9A-1C51-4F1B-9883-F925345FDDF8}" dt="2026-07-12T08:41:34.327" v="290" actId="14100"/>
        <pc:sldMkLst>
          <pc:docMk/>
          <pc:sldMk cId="3684731590" sldId="276"/>
        </pc:sldMkLst>
        <pc:spChg chg="mod">
          <ac:chgData name="Panna Chetry" userId="86827ce508f61ca7" providerId="LiveId" clId="{C3B4BF9A-1C51-4F1B-9883-F925345FDDF8}" dt="2026-07-12T08:41:22.973" v="289" actId="1076"/>
          <ac:spMkLst>
            <pc:docMk/>
            <pc:sldMk cId="3684731590" sldId="276"/>
            <ac:spMk id="3" creationId="{7AC6D4C7-5EE6-87A5-2E29-EEBAB8997106}"/>
          </ac:spMkLst>
        </pc:spChg>
        <pc:picChg chg="add mod">
          <ac:chgData name="Panna Chetry" userId="86827ce508f61ca7" providerId="LiveId" clId="{C3B4BF9A-1C51-4F1B-9883-F925345FDDF8}" dt="2026-07-12T08:41:12.809" v="288" actId="14100"/>
          <ac:picMkLst>
            <pc:docMk/>
            <pc:sldMk cId="3684731590" sldId="276"/>
            <ac:picMk id="5" creationId="{AA583B9D-B44D-0796-3777-5951EA357ECD}"/>
          </ac:picMkLst>
        </pc:picChg>
        <pc:picChg chg="mod">
          <ac:chgData name="Panna Chetry" userId="86827ce508f61ca7" providerId="LiveId" clId="{C3B4BF9A-1C51-4F1B-9883-F925345FDDF8}" dt="2026-07-12T08:41:34.327" v="290" actId="14100"/>
          <ac:picMkLst>
            <pc:docMk/>
            <pc:sldMk cId="3684731590" sldId="276"/>
            <ac:picMk id="6" creationId="{25183D00-F73A-90D2-C633-9F6A7A997DB8}"/>
          </ac:picMkLst>
        </pc:picChg>
      </pc:sldChg>
      <pc:sldChg chg="addSp delSp modSp mod">
        <pc:chgData name="Panna Chetry" userId="86827ce508f61ca7" providerId="LiveId" clId="{C3B4BF9A-1C51-4F1B-9883-F925345FDDF8}" dt="2026-07-12T08:33:38.939" v="274" actId="14100"/>
        <pc:sldMkLst>
          <pc:docMk/>
          <pc:sldMk cId="2392195342" sldId="302"/>
        </pc:sldMkLst>
        <pc:spChg chg="add del mod">
          <ac:chgData name="Panna Chetry" userId="86827ce508f61ca7" providerId="LiveId" clId="{C3B4BF9A-1C51-4F1B-9883-F925345FDDF8}" dt="2026-07-12T08:33:02.525" v="268" actId="22"/>
          <ac:spMkLst>
            <pc:docMk/>
            <pc:sldMk cId="2392195342" sldId="302"/>
            <ac:spMk id="5" creationId="{8511E812-B5C4-2BF2-5162-6D7560C40177}"/>
          </ac:spMkLst>
        </pc:spChg>
        <pc:picChg chg="add mod ord">
          <ac:chgData name="Panna Chetry" userId="86827ce508f61ca7" providerId="LiveId" clId="{C3B4BF9A-1C51-4F1B-9883-F925345FDDF8}" dt="2026-07-12T08:33:38.939" v="274" actId="14100"/>
          <ac:picMkLst>
            <pc:docMk/>
            <pc:sldMk cId="2392195342" sldId="302"/>
            <ac:picMk id="7" creationId="{96F30F9E-1E70-E497-5BD1-CDBD32896A7A}"/>
          </ac:picMkLst>
        </pc:picChg>
        <pc:picChg chg="del">
          <ac:chgData name="Panna Chetry" userId="86827ce508f61ca7" providerId="LiveId" clId="{C3B4BF9A-1C51-4F1B-9883-F925345FDDF8}" dt="2026-07-12T08:32:59.964" v="267" actId="478"/>
          <ac:picMkLst>
            <pc:docMk/>
            <pc:sldMk cId="2392195342" sldId="302"/>
            <ac:picMk id="10" creationId="{F4F063FF-8213-5F87-319D-7B0B9CCDBE2F}"/>
          </ac:picMkLst>
        </pc:picChg>
      </pc:sldChg>
      <pc:sldChg chg="modSp mod">
        <pc:chgData name="Panna Chetry" userId="86827ce508f61ca7" providerId="LiveId" clId="{C3B4BF9A-1C51-4F1B-9883-F925345FDDF8}" dt="2026-07-12T08:26:01.034" v="262" actId="5793"/>
        <pc:sldMkLst>
          <pc:docMk/>
          <pc:sldMk cId="1635700091" sldId="303"/>
        </pc:sldMkLst>
        <pc:spChg chg="mod">
          <ac:chgData name="Panna Chetry" userId="86827ce508f61ca7" providerId="LiveId" clId="{C3B4BF9A-1C51-4F1B-9883-F925345FDDF8}" dt="2026-07-12T08:26:01.034" v="262" actId="5793"/>
          <ac:spMkLst>
            <pc:docMk/>
            <pc:sldMk cId="1635700091" sldId="303"/>
            <ac:spMk id="3" creationId="{B35FD693-CB01-FD24-BF5C-157353E0DDF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BA7489-44B0-4A90-A55D-5D91B9848FD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9EC1564A-7E64-420A-9FDB-173F4C554ECD}">
      <dgm:prSet/>
      <dgm:spPr/>
      <dgm:t>
        <a:bodyPr/>
        <a:lstStyle/>
        <a:p>
          <a:r>
            <a:rPr lang="en-IN"/>
            <a:t>Dataset: HR Employee Attrition</a:t>
          </a:r>
        </a:p>
      </dgm:t>
    </dgm:pt>
    <dgm:pt modelId="{515599BD-BC25-4E0F-9493-D5B29C0DAB57}" type="parTrans" cxnId="{AB2DED6B-8BE7-4DEB-8458-94736860C742}">
      <dgm:prSet/>
      <dgm:spPr/>
      <dgm:t>
        <a:bodyPr/>
        <a:lstStyle/>
        <a:p>
          <a:endParaRPr lang="en-IN"/>
        </a:p>
      </dgm:t>
    </dgm:pt>
    <dgm:pt modelId="{8325765A-2192-40DA-9804-537479DB2495}" type="sibTrans" cxnId="{AB2DED6B-8BE7-4DEB-8458-94736860C742}">
      <dgm:prSet/>
      <dgm:spPr/>
      <dgm:t>
        <a:bodyPr/>
        <a:lstStyle/>
        <a:p>
          <a:endParaRPr lang="en-IN"/>
        </a:p>
      </dgm:t>
    </dgm:pt>
    <dgm:pt modelId="{3E08779B-3B7C-44BB-9237-299977FCAA15}">
      <dgm:prSet/>
      <dgm:spPr/>
      <dgm:t>
        <a:bodyPr/>
        <a:lstStyle/>
        <a:p>
          <a:r>
            <a:rPr lang="en-IN" dirty="0"/>
            <a:t>Rows: 1470</a:t>
          </a:r>
        </a:p>
      </dgm:t>
    </dgm:pt>
    <dgm:pt modelId="{97B14CFC-A0FE-452E-B2D6-A7227F8924C9}" type="parTrans" cxnId="{8249A7D7-FE07-466A-8327-A22A414C697F}">
      <dgm:prSet/>
      <dgm:spPr/>
      <dgm:t>
        <a:bodyPr/>
        <a:lstStyle/>
        <a:p>
          <a:endParaRPr lang="en-IN"/>
        </a:p>
      </dgm:t>
    </dgm:pt>
    <dgm:pt modelId="{E1284C4B-A05A-4005-AA0E-4410315023D1}" type="sibTrans" cxnId="{8249A7D7-FE07-466A-8327-A22A414C697F}">
      <dgm:prSet/>
      <dgm:spPr/>
      <dgm:t>
        <a:bodyPr/>
        <a:lstStyle/>
        <a:p>
          <a:endParaRPr lang="en-IN"/>
        </a:p>
      </dgm:t>
    </dgm:pt>
    <dgm:pt modelId="{05B8762F-25BB-426B-9E9D-7C769E608EF0}">
      <dgm:prSet/>
      <dgm:spPr/>
      <dgm:t>
        <a:bodyPr/>
        <a:lstStyle/>
        <a:p>
          <a:r>
            <a:rPr lang="en-IN" dirty="0"/>
            <a:t>Columns: 35</a:t>
          </a:r>
        </a:p>
      </dgm:t>
    </dgm:pt>
    <dgm:pt modelId="{0E4C06AC-B368-4694-A37F-FA3707B9E96D}" type="parTrans" cxnId="{734AA4ED-476D-4AFB-AF12-DA8D19FACA25}">
      <dgm:prSet/>
      <dgm:spPr/>
      <dgm:t>
        <a:bodyPr/>
        <a:lstStyle/>
        <a:p>
          <a:endParaRPr lang="en-IN"/>
        </a:p>
      </dgm:t>
    </dgm:pt>
    <dgm:pt modelId="{D7000375-3E5B-4980-8BB1-F07D22021C5C}" type="sibTrans" cxnId="{734AA4ED-476D-4AFB-AF12-DA8D19FACA25}">
      <dgm:prSet/>
      <dgm:spPr/>
      <dgm:t>
        <a:bodyPr/>
        <a:lstStyle/>
        <a:p>
          <a:endParaRPr lang="en-IN"/>
        </a:p>
      </dgm:t>
    </dgm:pt>
    <dgm:pt modelId="{02250A6F-B45B-43CB-9F8C-FFCF24E46CE9}">
      <dgm:prSet/>
      <dgm:spPr/>
      <dgm:t>
        <a:bodyPr/>
        <a:lstStyle/>
        <a:p>
          <a:r>
            <a:rPr lang="en-IN" dirty="0"/>
            <a:t>Target Variable: Attrition</a:t>
          </a:r>
        </a:p>
      </dgm:t>
    </dgm:pt>
    <dgm:pt modelId="{A92B35BF-F336-4CBC-A8FE-D8623A512FC2}" type="parTrans" cxnId="{3477C2B4-D0D1-4F5B-997C-822055D9B9FA}">
      <dgm:prSet/>
      <dgm:spPr/>
      <dgm:t>
        <a:bodyPr/>
        <a:lstStyle/>
        <a:p>
          <a:endParaRPr lang="en-IN"/>
        </a:p>
      </dgm:t>
    </dgm:pt>
    <dgm:pt modelId="{EB8E7D06-B950-42C3-8F9F-2D4BA787D1D8}" type="sibTrans" cxnId="{3477C2B4-D0D1-4F5B-997C-822055D9B9FA}">
      <dgm:prSet/>
      <dgm:spPr/>
      <dgm:t>
        <a:bodyPr/>
        <a:lstStyle/>
        <a:p>
          <a:endParaRPr lang="en-IN"/>
        </a:p>
      </dgm:t>
    </dgm:pt>
    <dgm:pt modelId="{20C2195C-BD19-41A5-BF53-37AE5123F040}">
      <dgm:prSet/>
      <dgm:spPr/>
      <dgm:t>
        <a:bodyPr/>
        <a:lstStyle/>
        <a:p>
          <a:r>
            <a:rPr lang="en-IN" dirty="0"/>
            <a:t>Key Fields: Age, Department, Job Role, Monthly Income, Overtime, Job satisfaction, Job Level, Years at Company, Salary Hike</a:t>
          </a:r>
        </a:p>
      </dgm:t>
    </dgm:pt>
    <dgm:pt modelId="{1112D33C-8B43-40BB-8DF5-A94B6166DB17}" type="parTrans" cxnId="{2300ED62-CDE3-4270-82A5-BD0138530BD9}">
      <dgm:prSet/>
      <dgm:spPr/>
      <dgm:t>
        <a:bodyPr/>
        <a:lstStyle/>
        <a:p>
          <a:endParaRPr lang="en-IN"/>
        </a:p>
      </dgm:t>
    </dgm:pt>
    <dgm:pt modelId="{FC7ACD79-5E40-49FF-B09D-A7D39F9DF710}" type="sibTrans" cxnId="{2300ED62-CDE3-4270-82A5-BD0138530BD9}">
      <dgm:prSet/>
      <dgm:spPr/>
      <dgm:t>
        <a:bodyPr/>
        <a:lstStyle/>
        <a:p>
          <a:endParaRPr lang="en-IN"/>
        </a:p>
      </dgm:t>
    </dgm:pt>
    <dgm:pt modelId="{12F11F86-F37E-4F98-A9CB-5C2CADD92D48}" type="pres">
      <dgm:prSet presAssocID="{C6BA7489-44B0-4A90-A55D-5D91B9848FD7}" presName="vert0" presStyleCnt="0">
        <dgm:presLayoutVars>
          <dgm:dir/>
          <dgm:animOne val="branch"/>
          <dgm:animLvl val="lvl"/>
        </dgm:presLayoutVars>
      </dgm:prSet>
      <dgm:spPr/>
    </dgm:pt>
    <dgm:pt modelId="{3B44702F-482F-4D19-9F43-02C3818C942C}" type="pres">
      <dgm:prSet presAssocID="{9EC1564A-7E64-420A-9FDB-173F4C554ECD}" presName="thickLine" presStyleLbl="alignNode1" presStyleIdx="0" presStyleCnt="5"/>
      <dgm:spPr/>
    </dgm:pt>
    <dgm:pt modelId="{27BEDE12-6767-4D03-A07E-513AFEBC6E68}" type="pres">
      <dgm:prSet presAssocID="{9EC1564A-7E64-420A-9FDB-173F4C554ECD}" presName="horz1" presStyleCnt="0"/>
      <dgm:spPr/>
    </dgm:pt>
    <dgm:pt modelId="{960A5456-E24A-4EDC-A9BD-9A5F22676F88}" type="pres">
      <dgm:prSet presAssocID="{9EC1564A-7E64-420A-9FDB-173F4C554ECD}" presName="tx1" presStyleLbl="revTx" presStyleIdx="0" presStyleCnt="5"/>
      <dgm:spPr/>
    </dgm:pt>
    <dgm:pt modelId="{FFDDEA06-93F1-4FBC-99FE-37545F0C9200}" type="pres">
      <dgm:prSet presAssocID="{9EC1564A-7E64-420A-9FDB-173F4C554ECD}" presName="vert1" presStyleCnt="0"/>
      <dgm:spPr/>
    </dgm:pt>
    <dgm:pt modelId="{2570B3B5-178C-4DB9-A856-523D6875CCC0}" type="pres">
      <dgm:prSet presAssocID="{3E08779B-3B7C-44BB-9237-299977FCAA15}" presName="thickLine" presStyleLbl="alignNode1" presStyleIdx="1" presStyleCnt="5"/>
      <dgm:spPr/>
    </dgm:pt>
    <dgm:pt modelId="{B9A090D8-41CE-4293-A354-B37C68A85B98}" type="pres">
      <dgm:prSet presAssocID="{3E08779B-3B7C-44BB-9237-299977FCAA15}" presName="horz1" presStyleCnt="0"/>
      <dgm:spPr/>
    </dgm:pt>
    <dgm:pt modelId="{A043E8F3-2772-4CEA-9A9F-F15A8D89A9E1}" type="pres">
      <dgm:prSet presAssocID="{3E08779B-3B7C-44BB-9237-299977FCAA15}" presName="tx1" presStyleLbl="revTx" presStyleIdx="1" presStyleCnt="5"/>
      <dgm:spPr/>
    </dgm:pt>
    <dgm:pt modelId="{FDDB39AB-B110-4DD8-9620-2E510D0EECC8}" type="pres">
      <dgm:prSet presAssocID="{3E08779B-3B7C-44BB-9237-299977FCAA15}" presName="vert1" presStyleCnt="0"/>
      <dgm:spPr/>
    </dgm:pt>
    <dgm:pt modelId="{3C70924B-E7A8-4E28-888D-0F3775688847}" type="pres">
      <dgm:prSet presAssocID="{05B8762F-25BB-426B-9E9D-7C769E608EF0}" presName="thickLine" presStyleLbl="alignNode1" presStyleIdx="2" presStyleCnt="5"/>
      <dgm:spPr/>
    </dgm:pt>
    <dgm:pt modelId="{01F70A66-A310-4D02-9945-4BBC51FEBC06}" type="pres">
      <dgm:prSet presAssocID="{05B8762F-25BB-426B-9E9D-7C769E608EF0}" presName="horz1" presStyleCnt="0"/>
      <dgm:spPr/>
    </dgm:pt>
    <dgm:pt modelId="{FCF55F75-1709-4667-821E-D74045BD8805}" type="pres">
      <dgm:prSet presAssocID="{05B8762F-25BB-426B-9E9D-7C769E608EF0}" presName="tx1" presStyleLbl="revTx" presStyleIdx="2" presStyleCnt="5"/>
      <dgm:spPr/>
    </dgm:pt>
    <dgm:pt modelId="{990A40C6-D700-4E56-9666-858C6A26B478}" type="pres">
      <dgm:prSet presAssocID="{05B8762F-25BB-426B-9E9D-7C769E608EF0}" presName="vert1" presStyleCnt="0"/>
      <dgm:spPr/>
    </dgm:pt>
    <dgm:pt modelId="{4AA08434-4D85-44DB-A8AF-DD8780B03221}" type="pres">
      <dgm:prSet presAssocID="{02250A6F-B45B-43CB-9F8C-FFCF24E46CE9}" presName="thickLine" presStyleLbl="alignNode1" presStyleIdx="3" presStyleCnt="5"/>
      <dgm:spPr/>
    </dgm:pt>
    <dgm:pt modelId="{1FF8CD28-FFAB-4FD3-8DB4-753294B00769}" type="pres">
      <dgm:prSet presAssocID="{02250A6F-B45B-43CB-9F8C-FFCF24E46CE9}" presName="horz1" presStyleCnt="0"/>
      <dgm:spPr/>
    </dgm:pt>
    <dgm:pt modelId="{0943A22B-4044-4C6B-B624-1947F32AC834}" type="pres">
      <dgm:prSet presAssocID="{02250A6F-B45B-43CB-9F8C-FFCF24E46CE9}" presName="tx1" presStyleLbl="revTx" presStyleIdx="3" presStyleCnt="5"/>
      <dgm:spPr/>
    </dgm:pt>
    <dgm:pt modelId="{C69AC20F-F8B5-4562-A98A-2DDCC8D48375}" type="pres">
      <dgm:prSet presAssocID="{02250A6F-B45B-43CB-9F8C-FFCF24E46CE9}" presName="vert1" presStyleCnt="0"/>
      <dgm:spPr/>
    </dgm:pt>
    <dgm:pt modelId="{6002576C-9AD0-44F5-B0EC-FDA16EFE1DFD}" type="pres">
      <dgm:prSet presAssocID="{20C2195C-BD19-41A5-BF53-37AE5123F040}" presName="thickLine" presStyleLbl="alignNode1" presStyleIdx="4" presStyleCnt="5"/>
      <dgm:spPr/>
    </dgm:pt>
    <dgm:pt modelId="{B392EFBF-1583-4D5A-8028-1A18F48BBA88}" type="pres">
      <dgm:prSet presAssocID="{20C2195C-BD19-41A5-BF53-37AE5123F040}" presName="horz1" presStyleCnt="0"/>
      <dgm:spPr/>
    </dgm:pt>
    <dgm:pt modelId="{4CAC24E2-1133-4DC9-865F-431DEEB449D7}" type="pres">
      <dgm:prSet presAssocID="{20C2195C-BD19-41A5-BF53-37AE5123F040}" presName="tx1" presStyleLbl="revTx" presStyleIdx="4" presStyleCnt="5"/>
      <dgm:spPr/>
    </dgm:pt>
    <dgm:pt modelId="{AB82B8DB-0982-47E8-8766-D2F9D162F3CF}" type="pres">
      <dgm:prSet presAssocID="{20C2195C-BD19-41A5-BF53-37AE5123F040}" presName="vert1" presStyleCnt="0"/>
      <dgm:spPr/>
    </dgm:pt>
  </dgm:ptLst>
  <dgm:cxnLst>
    <dgm:cxn modelId="{1439CA03-06B4-41CC-9862-5894B7382D00}" type="presOf" srcId="{3E08779B-3B7C-44BB-9237-299977FCAA15}" destId="{A043E8F3-2772-4CEA-9A9F-F15A8D89A9E1}" srcOrd="0" destOrd="0" presId="urn:microsoft.com/office/officeart/2008/layout/LinedList"/>
    <dgm:cxn modelId="{E764F304-3CAC-4A75-97AB-EBEA4401E70E}" type="presOf" srcId="{05B8762F-25BB-426B-9E9D-7C769E608EF0}" destId="{FCF55F75-1709-4667-821E-D74045BD8805}" srcOrd="0" destOrd="0" presId="urn:microsoft.com/office/officeart/2008/layout/LinedList"/>
    <dgm:cxn modelId="{2300ED62-CDE3-4270-82A5-BD0138530BD9}" srcId="{C6BA7489-44B0-4A90-A55D-5D91B9848FD7}" destId="{20C2195C-BD19-41A5-BF53-37AE5123F040}" srcOrd="4" destOrd="0" parTransId="{1112D33C-8B43-40BB-8DF5-A94B6166DB17}" sibTransId="{FC7ACD79-5E40-49FF-B09D-A7D39F9DF710}"/>
    <dgm:cxn modelId="{AB2DED6B-8BE7-4DEB-8458-94736860C742}" srcId="{C6BA7489-44B0-4A90-A55D-5D91B9848FD7}" destId="{9EC1564A-7E64-420A-9FDB-173F4C554ECD}" srcOrd="0" destOrd="0" parTransId="{515599BD-BC25-4E0F-9493-D5B29C0DAB57}" sibTransId="{8325765A-2192-40DA-9804-537479DB2495}"/>
    <dgm:cxn modelId="{87D9677D-9708-4780-852D-29C52A4C2728}" type="presOf" srcId="{9EC1564A-7E64-420A-9FDB-173F4C554ECD}" destId="{960A5456-E24A-4EDC-A9BD-9A5F22676F88}" srcOrd="0" destOrd="0" presId="urn:microsoft.com/office/officeart/2008/layout/LinedList"/>
    <dgm:cxn modelId="{D5F4E69B-28E7-4BD9-A57F-CF46FE77217F}" type="presOf" srcId="{C6BA7489-44B0-4A90-A55D-5D91B9848FD7}" destId="{12F11F86-F37E-4F98-A9CB-5C2CADD92D48}" srcOrd="0" destOrd="0" presId="urn:microsoft.com/office/officeart/2008/layout/LinedList"/>
    <dgm:cxn modelId="{A1B01AA4-3520-4B74-A3EB-C5CB1910B24E}" type="presOf" srcId="{20C2195C-BD19-41A5-BF53-37AE5123F040}" destId="{4CAC24E2-1133-4DC9-865F-431DEEB449D7}" srcOrd="0" destOrd="0" presId="urn:microsoft.com/office/officeart/2008/layout/LinedList"/>
    <dgm:cxn modelId="{3477C2B4-D0D1-4F5B-997C-822055D9B9FA}" srcId="{C6BA7489-44B0-4A90-A55D-5D91B9848FD7}" destId="{02250A6F-B45B-43CB-9F8C-FFCF24E46CE9}" srcOrd="3" destOrd="0" parTransId="{A92B35BF-F336-4CBC-A8FE-D8623A512FC2}" sibTransId="{EB8E7D06-B950-42C3-8F9F-2D4BA787D1D8}"/>
    <dgm:cxn modelId="{8249A7D7-FE07-466A-8327-A22A414C697F}" srcId="{C6BA7489-44B0-4A90-A55D-5D91B9848FD7}" destId="{3E08779B-3B7C-44BB-9237-299977FCAA15}" srcOrd="1" destOrd="0" parTransId="{97B14CFC-A0FE-452E-B2D6-A7227F8924C9}" sibTransId="{E1284C4B-A05A-4005-AA0E-4410315023D1}"/>
    <dgm:cxn modelId="{EDEC31E0-93AE-4CE4-AC11-D164EB0E978D}" type="presOf" srcId="{02250A6F-B45B-43CB-9F8C-FFCF24E46CE9}" destId="{0943A22B-4044-4C6B-B624-1947F32AC834}" srcOrd="0" destOrd="0" presId="urn:microsoft.com/office/officeart/2008/layout/LinedList"/>
    <dgm:cxn modelId="{734AA4ED-476D-4AFB-AF12-DA8D19FACA25}" srcId="{C6BA7489-44B0-4A90-A55D-5D91B9848FD7}" destId="{05B8762F-25BB-426B-9E9D-7C769E608EF0}" srcOrd="2" destOrd="0" parTransId="{0E4C06AC-B368-4694-A37F-FA3707B9E96D}" sibTransId="{D7000375-3E5B-4980-8BB1-F07D22021C5C}"/>
    <dgm:cxn modelId="{5C05CFA9-67FE-4E21-BE82-34E803823EE4}" type="presParOf" srcId="{12F11F86-F37E-4F98-A9CB-5C2CADD92D48}" destId="{3B44702F-482F-4D19-9F43-02C3818C942C}" srcOrd="0" destOrd="0" presId="urn:microsoft.com/office/officeart/2008/layout/LinedList"/>
    <dgm:cxn modelId="{9B5C576D-F28E-4EF2-AB2B-6096A994478B}" type="presParOf" srcId="{12F11F86-F37E-4F98-A9CB-5C2CADD92D48}" destId="{27BEDE12-6767-4D03-A07E-513AFEBC6E68}" srcOrd="1" destOrd="0" presId="urn:microsoft.com/office/officeart/2008/layout/LinedList"/>
    <dgm:cxn modelId="{8431FBF1-5A5F-45F1-BC23-1BDD7FCB85A8}" type="presParOf" srcId="{27BEDE12-6767-4D03-A07E-513AFEBC6E68}" destId="{960A5456-E24A-4EDC-A9BD-9A5F22676F88}" srcOrd="0" destOrd="0" presId="urn:microsoft.com/office/officeart/2008/layout/LinedList"/>
    <dgm:cxn modelId="{27C7128A-E357-486C-8F0A-BF09496B103C}" type="presParOf" srcId="{27BEDE12-6767-4D03-A07E-513AFEBC6E68}" destId="{FFDDEA06-93F1-4FBC-99FE-37545F0C9200}" srcOrd="1" destOrd="0" presId="urn:microsoft.com/office/officeart/2008/layout/LinedList"/>
    <dgm:cxn modelId="{025F57F8-2F6A-4B36-B592-CC84B28DC362}" type="presParOf" srcId="{12F11F86-F37E-4F98-A9CB-5C2CADD92D48}" destId="{2570B3B5-178C-4DB9-A856-523D6875CCC0}" srcOrd="2" destOrd="0" presId="urn:microsoft.com/office/officeart/2008/layout/LinedList"/>
    <dgm:cxn modelId="{18ABBFFC-BDCE-4B27-AF9E-50296CA71BF2}" type="presParOf" srcId="{12F11F86-F37E-4F98-A9CB-5C2CADD92D48}" destId="{B9A090D8-41CE-4293-A354-B37C68A85B98}" srcOrd="3" destOrd="0" presId="urn:microsoft.com/office/officeart/2008/layout/LinedList"/>
    <dgm:cxn modelId="{9017693B-4394-4A24-BE09-89B9009123D1}" type="presParOf" srcId="{B9A090D8-41CE-4293-A354-B37C68A85B98}" destId="{A043E8F3-2772-4CEA-9A9F-F15A8D89A9E1}" srcOrd="0" destOrd="0" presId="urn:microsoft.com/office/officeart/2008/layout/LinedList"/>
    <dgm:cxn modelId="{50FB8920-0D36-4A38-B3A3-4B2DA4686436}" type="presParOf" srcId="{B9A090D8-41CE-4293-A354-B37C68A85B98}" destId="{FDDB39AB-B110-4DD8-9620-2E510D0EECC8}" srcOrd="1" destOrd="0" presId="urn:microsoft.com/office/officeart/2008/layout/LinedList"/>
    <dgm:cxn modelId="{4CECF906-6BA9-486E-B4E9-5A8DB08D2747}" type="presParOf" srcId="{12F11F86-F37E-4F98-A9CB-5C2CADD92D48}" destId="{3C70924B-E7A8-4E28-888D-0F3775688847}" srcOrd="4" destOrd="0" presId="urn:microsoft.com/office/officeart/2008/layout/LinedList"/>
    <dgm:cxn modelId="{C96E15FF-DCBB-43B0-B8F2-483E457F8B40}" type="presParOf" srcId="{12F11F86-F37E-4F98-A9CB-5C2CADD92D48}" destId="{01F70A66-A310-4D02-9945-4BBC51FEBC06}" srcOrd="5" destOrd="0" presId="urn:microsoft.com/office/officeart/2008/layout/LinedList"/>
    <dgm:cxn modelId="{FA47ECC1-3866-44DD-BF20-B3803268FDF3}" type="presParOf" srcId="{01F70A66-A310-4D02-9945-4BBC51FEBC06}" destId="{FCF55F75-1709-4667-821E-D74045BD8805}" srcOrd="0" destOrd="0" presId="urn:microsoft.com/office/officeart/2008/layout/LinedList"/>
    <dgm:cxn modelId="{4AA3C205-9458-4C42-B311-AF7D12F18F97}" type="presParOf" srcId="{01F70A66-A310-4D02-9945-4BBC51FEBC06}" destId="{990A40C6-D700-4E56-9666-858C6A26B478}" srcOrd="1" destOrd="0" presId="urn:microsoft.com/office/officeart/2008/layout/LinedList"/>
    <dgm:cxn modelId="{CAA2B8E1-0046-45EF-AF5F-13E14660E9C8}" type="presParOf" srcId="{12F11F86-F37E-4F98-A9CB-5C2CADD92D48}" destId="{4AA08434-4D85-44DB-A8AF-DD8780B03221}" srcOrd="6" destOrd="0" presId="urn:microsoft.com/office/officeart/2008/layout/LinedList"/>
    <dgm:cxn modelId="{74537CAA-527F-479C-B88D-5553C867031D}" type="presParOf" srcId="{12F11F86-F37E-4F98-A9CB-5C2CADD92D48}" destId="{1FF8CD28-FFAB-4FD3-8DB4-753294B00769}" srcOrd="7" destOrd="0" presId="urn:microsoft.com/office/officeart/2008/layout/LinedList"/>
    <dgm:cxn modelId="{ED3E1624-34D2-4297-9038-D513E4B41D77}" type="presParOf" srcId="{1FF8CD28-FFAB-4FD3-8DB4-753294B00769}" destId="{0943A22B-4044-4C6B-B624-1947F32AC834}" srcOrd="0" destOrd="0" presId="urn:microsoft.com/office/officeart/2008/layout/LinedList"/>
    <dgm:cxn modelId="{E6CAD8FE-598E-4695-948D-227640BDA7D1}" type="presParOf" srcId="{1FF8CD28-FFAB-4FD3-8DB4-753294B00769}" destId="{C69AC20F-F8B5-4562-A98A-2DDCC8D48375}" srcOrd="1" destOrd="0" presId="urn:microsoft.com/office/officeart/2008/layout/LinedList"/>
    <dgm:cxn modelId="{A8F2DCF9-B121-47C9-8974-9FBE4B8CB429}" type="presParOf" srcId="{12F11F86-F37E-4F98-A9CB-5C2CADD92D48}" destId="{6002576C-9AD0-44F5-B0EC-FDA16EFE1DFD}" srcOrd="8" destOrd="0" presId="urn:microsoft.com/office/officeart/2008/layout/LinedList"/>
    <dgm:cxn modelId="{C8220FFB-D1F4-44D0-986E-F0B3B15C8AF9}" type="presParOf" srcId="{12F11F86-F37E-4F98-A9CB-5C2CADD92D48}" destId="{B392EFBF-1583-4D5A-8028-1A18F48BBA88}" srcOrd="9" destOrd="0" presId="urn:microsoft.com/office/officeart/2008/layout/LinedList"/>
    <dgm:cxn modelId="{EBB92DFE-57D0-4B7E-AC7F-5F1C841360BE}" type="presParOf" srcId="{B392EFBF-1583-4D5A-8028-1A18F48BBA88}" destId="{4CAC24E2-1133-4DC9-865F-431DEEB449D7}" srcOrd="0" destOrd="0" presId="urn:microsoft.com/office/officeart/2008/layout/LinedList"/>
    <dgm:cxn modelId="{5FCE0142-B446-4A5F-A78C-AA7995513C82}" type="presParOf" srcId="{B392EFBF-1583-4D5A-8028-1A18F48BBA88}" destId="{AB82B8DB-0982-47E8-8766-D2F9D162F3C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4702F-482F-4D19-9F43-02C3818C942C}">
      <dsp:nvSpPr>
        <dsp:cNvPr id="0" name=""/>
        <dsp:cNvSpPr/>
      </dsp:nvSpPr>
      <dsp:spPr>
        <a:xfrm>
          <a:off x="0" y="459"/>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0A5456-E24A-4EDC-A9BD-9A5F22676F88}">
      <dsp:nvSpPr>
        <dsp:cNvPr id="0" name=""/>
        <dsp:cNvSpPr/>
      </dsp:nvSpPr>
      <dsp:spPr>
        <a:xfrm>
          <a:off x="0" y="459"/>
          <a:ext cx="10058399" cy="75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a:t>Dataset: HR Employee Attrition</a:t>
          </a:r>
        </a:p>
      </dsp:txBody>
      <dsp:txXfrm>
        <a:off x="0" y="459"/>
        <a:ext cx="10058399" cy="751994"/>
      </dsp:txXfrm>
    </dsp:sp>
    <dsp:sp modelId="{2570B3B5-178C-4DB9-A856-523D6875CCC0}">
      <dsp:nvSpPr>
        <dsp:cNvPr id="0" name=""/>
        <dsp:cNvSpPr/>
      </dsp:nvSpPr>
      <dsp:spPr>
        <a:xfrm>
          <a:off x="0" y="752453"/>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43E8F3-2772-4CEA-9A9F-F15A8D89A9E1}">
      <dsp:nvSpPr>
        <dsp:cNvPr id="0" name=""/>
        <dsp:cNvSpPr/>
      </dsp:nvSpPr>
      <dsp:spPr>
        <a:xfrm>
          <a:off x="0" y="752453"/>
          <a:ext cx="10058399" cy="75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dirty="0"/>
            <a:t>Rows: 1470</a:t>
          </a:r>
        </a:p>
      </dsp:txBody>
      <dsp:txXfrm>
        <a:off x="0" y="752453"/>
        <a:ext cx="10058399" cy="751994"/>
      </dsp:txXfrm>
    </dsp:sp>
    <dsp:sp modelId="{3C70924B-E7A8-4E28-888D-0F3775688847}">
      <dsp:nvSpPr>
        <dsp:cNvPr id="0" name=""/>
        <dsp:cNvSpPr/>
      </dsp:nvSpPr>
      <dsp:spPr>
        <a:xfrm>
          <a:off x="0" y="1504448"/>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F55F75-1709-4667-821E-D74045BD8805}">
      <dsp:nvSpPr>
        <dsp:cNvPr id="0" name=""/>
        <dsp:cNvSpPr/>
      </dsp:nvSpPr>
      <dsp:spPr>
        <a:xfrm>
          <a:off x="0" y="1504448"/>
          <a:ext cx="10058399" cy="75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dirty="0"/>
            <a:t>Columns: 35</a:t>
          </a:r>
        </a:p>
      </dsp:txBody>
      <dsp:txXfrm>
        <a:off x="0" y="1504448"/>
        <a:ext cx="10058399" cy="751994"/>
      </dsp:txXfrm>
    </dsp:sp>
    <dsp:sp modelId="{4AA08434-4D85-44DB-A8AF-DD8780B03221}">
      <dsp:nvSpPr>
        <dsp:cNvPr id="0" name=""/>
        <dsp:cNvSpPr/>
      </dsp:nvSpPr>
      <dsp:spPr>
        <a:xfrm>
          <a:off x="0" y="2256442"/>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43A22B-4044-4C6B-B624-1947F32AC834}">
      <dsp:nvSpPr>
        <dsp:cNvPr id="0" name=""/>
        <dsp:cNvSpPr/>
      </dsp:nvSpPr>
      <dsp:spPr>
        <a:xfrm>
          <a:off x="0" y="2256442"/>
          <a:ext cx="10058399" cy="75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dirty="0"/>
            <a:t>Target Variable: Attrition</a:t>
          </a:r>
        </a:p>
      </dsp:txBody>
      <dsp:txXfrm>
        <a:off x="0" y="2256442"/>
        <a:ext cx="10058399" cy="751994"/>
      </dsp:txXfrm>
    </dsp:sp>
    <dsp:sp modelId="{6002576C-9AD0-44F5-B0EC-FDA16EFE1DFD}">
      <dsp:nvSpPr>
        <dsp:cNvPr id="0" name=""/>
        <dsp:cNvSpPr/>
      </dsp:nvSpPr>
      <dsp:spPr>
        <a:xfrm>
          <a:off x="0" y="3008437"/>
          <a:ext cx="10058399"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AC24E2-1133-4DC9-865F-431DEEB449D7}">
      <dsp:nvSpPr>
        <dsp:cNvPr id="0" name=""/>
        <dsp:cNvSpPr/>
      </dsp:nvSpPr>
      <dsp:spPr>
        <a:xfrm>
          <a:off x="0" y="3008437"/>
          <a:ext cx="10058399" cy="75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IN" sz="2200" kern="1200" dirty="0"/>
            <a:t>Key Fields: Age, Department, Job Role, Monthly Income, Overtime, Job satisfaction, Job Level, Years at Company, Salary Hike</a:t>
          </a:r>
        </a:p>
      </dsp:txBody>
      <dsp:txXfrm>
        <a:off x="0" y="3008437"/>
        <a:ext cx="10058399" cy="75199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7/12/2026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7/12/2026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7/12/2026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7/12/2026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7/12/2026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7/12/2026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7/12/2026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7/12/2026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7/12/2026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7/12/2026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echnofaq.org/posts/2019/10/four-practices-to-decrease-employee-turnover-rates/" TargetMode="External"/><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rawpixel.com/search/meeting%20room" TargetMode="External"/><Relationship Id="rId2" Type="http://schemas.openxmlformats.org/officeDocument/2006/relationships/image" Target="../media/image3.1"/><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technofaq.org/posts/2019/10/four-practices-to-decrease-employee-turnover-rates/" TargetMode="External"/><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846208"/>
            <a:ext cx="3214307" cy="2054546"/>
          </a:xfrm>
        </p:spPr>
        <p:txBody>
          <a:bodyPr anchor="b">
            <a:normAutofit fontScale="90000"/>
          </a:bodyPr>
          <a:lstStyle/>
          <a:p>
            <a:r>
              <a:rPr lang="en-US" sz="3200" dirty="0">
                <a:solidFill>
                  <a:schemeClr val="accent1"/>
                </a:solidFill>
              </a:rPr>
              <a:t>PROJECT :</a:t>
            </a:r>
            <a:br>
              <a:rPr lang="en-US" sz="3200" dirty="0">
                <a:solidFill>
                  <a:schemeClr val="accent1"/>
                </a:solidFill>
              </a:rPr>
            </a:br>
            <a:br>
              <a:rPr lang="en-US" sz="3200" dirty="0">
                <a:solidFill>
                  <a:schemeClr val="accent1"/>
                </a:solidFill>
              </a:rPr>
            </a:br>
            <a:r>
              <a:rPr lang="en-US" sz="3200" dirty="0">
                <a:solidFill>
                  <a:schemeClr val="accent1"/>
                </a:solidFill>
              </a:rPr>
              <a:t>HR EMPLOYEE ATTRITION ANALYSIS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fontScale="92500"/>
          </a:bodyPr>
          <a:lstStyle/>
          <a:p>
            <a:pPr>
              <a:lnSpc>
                <a:spcPct val="100000"/>
              </a:lnSpc>
            </a:pPr>
            <a:r>
              <a:rPr lang="en-US" sz="1600" cap="none" dirty="0"/>
              <a:t>Submitted By: Panna Chetry</a:t>
            </a:r>
          </a:p>
          <a:p>
            <a:pPr>
              <a:lnSpc>
                <a:spcPct val="100000"/>
              </a:lnSpc>
            </a:pPr>
            <a:r>
              <a:rPr lang="en-US" sz="1600" cap="none" dirty="0"/>
              <a:t>Batch: Apr 2026</a:t>
            </a:r>
            <a:endParaRPr lang="en-US" sz="1600" dirty="0"/>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EC1E48C-4992-22C4-97C1-00B7062F6BBA}"/>
              </a:ext>
            </a:extLst>
          </p:cNvPr>
          <p:cNvSpPr>
            <a:spLocks noGrp="1"/>
          </p:cNvSpPr>
          <p:nvPr>
            <p:ph type="title"/>
          </p:nvPr>
        </p:nvSpPr>
        <p:spPr>
          <a:xfrm>
            <a:off x="1097280" y="286603"/>
            <a:ext cx="10058400" cy="1450757"/>
          </a:xfrm>
        </p:spPr>
        <p:txBody>
          <a:bodyPr anchor="b">
            <a:normAutofit/>
          </a:bodyPr>
          <a:lstStyle/>
          <a:p>
            <a:r>
              <a:rPr lang="en-IN" sz="4400" b="1" dirty="0">
                <a:solidFill>
                  <a:schemeClr val="accent1"/>
                </a:solidFill>
                <a:latin typeface="+mn-lt"/>
              </a:rPr>
              <a:t>CONTENT</a:t>
            </a:r>
            <a:endParaRPr lang="en-US" sz="4400" b="1" dirty="0">
              <a:solidFill>
                <a:schemeClr val="accent1"/>
              </a:solidFill>
              <a:latin typeface="+mn-lt"/>
            </a:endParaRPr>
          </a:p>
        </p:txBody>
      </p:sp>
      <p:sp>
        <p:nvSpPr>
          <p:cNvPr id="14" name="Text Placeholder 3">
            <a:extLst>
              <a:ext uri="{FF2B5EF4-FFF2-40B4-BE49-F238E27FC236}">
                <a16:creationId xmlns:a16="http://schemas.microsoft.com/office/drawing/2014/main" id="{CF0C240A-D895-B7A3-AEF2-D4AF3C475D94}"/>
              </a:ext>
            </a:extLst>
          </p:cNvPr>
          <p:cNvSpPr>
            <a:spLocks noGrp="1"/>
          </p:cNvSpPr>
          <p:nvPr>
            <p:ph sz="half" idx="1"/>
          </p:nvPr>
        </p:nvSpPr>
        <p:spPr>
          <a:xfrm>
            <a:off x="1097280" y="2120900"/>
            <a:ext cx="4639736" cy="4063590"/>
          </a:xfrm>
        </p:spPr>
        <p:txBody>
          <a:bodyPr>
            <a:normAutofit fontScale="92500" lnSpcReduction="10000"/>
          </a:bodyPr>
          <a:lstStyle/>
          <a:p>
            <a:pPr>
              <a:buFont typeface="Arial" panose="020B0604020202020204" pitchFamily="34" charset="0"/>
              <a:buChar char="•"/>
            </a:pPr>
            <a:r>
              <a:rPr lang="en-US" sz="2800" dirty="0"/>
              <a:t> Introduction</a:t>
            </a:r>
          </a:p>
          <a:p>
            <a:pPr>
              <a:buFont typeface="Arial" panose="020B0604020202020204" pitchFamily="34" charset="0"/>
              <a:buChar char="•"/>
            </a:pPr>
            <a:r>
              <a:rPr lang="en-US" sz="2800" dirty="0"/>
              <a:t> Problem Statement</a:t>
            </a:r>
          </a:p>
          <a:p>
            <a:pPr>
              <a:buFont typeface="Arial" panose="020B0604020202020204" pitchFamily="34" charset="0"/>
              <a:buChar char="•"/>
            </a:pPr>
            <a:r>
              <a:rPr lang="en-US" sz="2800" dirty="0"/>
              <a:t> Dataset Description</a:t>
            </a:r>
          </a:p>
          <a:p>
            <a:pPr>
              <a:buFont typeface="Arial" panose="020B0604020202020204" pitchFamily="34" charset="0"/>
              <a:buChar char="•"/>
            </a:pPr>
            <a:r>
              <a:rPr lang="en-US" sz="2800" dirty="0"/>
              <a:t> Data Cleaning </a:t>
            </a:r>
          </a:p>
          <a:p>
            <a:pPr>
              <a:buFont typeface="Arial" panose="020B0604020202020204" pitchFamily="34" charset="0"/>
              <a:buChar char="•"/>
            </a:pPr>
            <a:r>
              <a:rPr lang="en-US" sz="2800" dirty="0"/>
              <a:t> EDA</a:t>
            </a:r>
          </a:p>
          <a:p>
            <a:pPr>
              <a:buFont typeface="Arial" panose="020B0604020202020204" pitchFamily="34" charset="0"/>
              <a:buChar char="•"/>
            </a:pPr>
            <a:r>
              <a:rPr lang="en-US" sz="2800" dirty="0"/>
              <a:t> Conclusion</a:t>
            </a:r>
          </a:p>
          <a:p>
            <a:pPr>
              <a:buFont typeface="Arial" panose="020B0604020202020204" pitchFamily="34" charset="0"/>
              <a:buChar char="•"/>
            </a:pPr>
            <a:r>
              <a:rPr lang="en-US" sz="2800" dirty="0"/>
              <a:t> Suggestion</a:t>
            </a:r>
          </a:p>
          <a:p>
            <a:endParaRPr lang="en-US" dirty="0"/>
          </a:p>
        </p:txBody>
      </p:sp>
      <p:pic>
        <p:nvPicPr>
          <p:cNvPr id="17" name="Content Placeholder 5">
            <a:extLst>
              <a:ext uri="{FF2B5EF4-FFF2-40B4-BE49-F238E27FC236}">
                <a16:creationId xmlns:a16="http://schemas.microsoft.com/office/drawing/2014/main" id="{FEEECAB8-44CE-6C7E-E9C6-1DBFE1412CF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4783" r="1" b="4434"/>
          <a:stretch>
            <a:fillRect/>
          </a:stretch>
        </p:blipFill>
        <p:spPr>
          <a:xfrm>
            <a:off x="6515945" y="2436296"/>
            <a:ext cx="4639735" cy="3748194"/>
          </a:xfrm>
          <a:prstGeom prst="rect">
            <a:avLst/>
          </a:prstGeom>
          <a:noFill/>
        </p:spPr>
      </p:pic>
      <p:sp>
        <p:nvSpPr>
          <p:cNvPr id="19" name="TextBox 18">
            <a:extLst>
              <a:ext uri="{FF2B5EF4-FFF2-40B4-BE49-F238E27FC236}">
                <a16:creationId xmlns:a16="http://schemas.microsoft.com/office/drawing/2014/main" id="{DAF22500-5215-8981-139F-D908655223CF}"/>
              </a:ext>
            </a:extLst>
          </p:cNvPr>
          <p:cNvSpPr txBox="1"/>
          <p:nvPr/>
        </p:nvSpPr>
        <p:spPr>
          <a:xfrm>
            <a:off x="10970949" y="5669039"/>
            <a:ext cx="184731" cy="200055"/>
          </a:xfrm>
          <a:prstGeom prst="rect">
            <a:avLst/>
          </a:prstGeom>
          <a:solidFill>
            <a:srgbClr val="000000"/>
          </a:solidFill>
        </p:spPr>
        <p:txBody>
          <a:bodyPr wrap="none" rtlCol="0">
            <a:spAutoFit/>
          </a:bodyPr>
          <a:lstStyle/>
          <a:p>
            <a:pPr algn="r">
              <a:spcAft>
                <a:spcPts val="600"/>
              </a:spcAft>
            </a:pPr>
            <a:endParaRPr lang="en-IN" sz="700" dirty="0">
              <a:solidFill>
                <a:srgbClr val="FFFFFF"/>
              </a:solidFill>
            </a:endParaRPr>
          </a:p>
        </p:txBody>
      </p:sp>
    </p:spTree>
    <p:extLst>
      <p:ext uri="{BB962C8B-B14F-4D97-AF65-F5344CB8AC3E}">
        <p14:creationId xmlns:p14="http://schemas.microsoft.com/office/powerpoint/2010/main" val="312682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5E6F-0210-BE2A-FC61-59B990E5D46D}"/>
              </a:ext>
            </a:extLst>
          </p:cNvPr>
          <p:cNvSpPr>
            <a:spLocks noGrp="1"/>
          </p:cNvSpPr>
          <p:nvPr>
            <p:ph type="title"/>
          </p:nvPr>
        </p:nvSpPr>
        <p:spPr/>
        <p:txBody>
          <a:bodyPr>
            <a:normAutofit/>
          </a:bodyPr>
          <a:lstStyle/>
          <a:p>
            <a:r>
              <a:rPr lang="en-IN" sz="4400" b="1" dirty="0">
                <a:solidFill>
                  <a:schemeClr val="accent1"/>
                </a:solidFill>
                <a:latin typeface="+mn-lt"/>
              </a:rPr>
              <a:t>INTRODUCTION</a:t>
            </a:r>
          </a:p>
        </p:txBody>
      </p:sp>
      <p:sp>
        <p:nvSpPr>
          <p:cNvPr id="3" name="Content Placeholder 2">
            <a:extLst>
              <a:ext uri="{FF2B5EF4-FFF2-40B4-BE49-F238E27FC236}">
                <a16:creationId xmlns:a16="http://schemas.microsoft.com/office/drawing/2014/main" id="{4FB01EE5-DDBC-6E76-1CC2-575D7F0C9958}"/>
              </a:ext>
            </a:extLst>
          </p:cNvPr>
          <p:cNvSpPr>
            <a:spLocks noGrp="1"/>
          </p:cNvSpPr>
          <p:nvPr>
            <p:ph idx="1"/>
          </p:nvPr>
        </p:nvSpPr>
        <p:spPr>
          <a:xfrm>
            <a:off x="1097280" y="2108201"/>
            <a:ext cx="10058400" cy="4056625"/>
          </a:xfrm>
        </p:spPr>
        <p:txBody>
          <a:bodyPr>
            <a:normAutofit/>
          </a:bodyPr>
          <a:lstStyle/>
          <a:p>
            <a:pPr marL="0" indent="0">
              <a:buNone/>
            </a:pPr>
            <a:endParaRPr lang="en-IN" dirty="0"/>
          </a:p>
          <a:p>
            <a:r>
              <a:rPr lang="en-IN" sz="2400" dirty="0"/>
              <a:t>Employee attrition refers to the gradual reduction of an organization's workforce due to voluntary or involuntary employee departures. High attrition can increase recruitment and training costs, reduce productivity, and affect overall organizational performance. Analysing employee attrition helps organizations identify the key factors influencing turnover and develop effective strategies to improve employee retention and workforce stability.</a:t>
            </a:r>
          </a:p>
          <a:p>
            <a:endParaRPr lang="en-IN" dirty="0"/>
          </a:p>
        </p:txBody>
      </p:sp>
    </p:spTree>
    <p:extLst>
      <p:ext uri="{BB962C8B-B14F-4D97-AF65-F5344CB8AC3E}">
        <p14:creationId xmlns:p14="http://schemas.microsoft.com/office/powerpoint/2010/main" val="1758924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4A69FEC-CDAF-F308-B0C4-19A8316B28CB}"/>
              </a:ext>
            </a:extLst>
          </p:cNvPr>
          <p:cNvSpPr>
            <a:spLocks noGrp="1"/>
          </p:cNvSpPr>
          <p:nvPr>
            <p:ph type="title"/>
          </p:nvPr>
        </p:nvSpPr>
        <p:spPr>
          <a:xfrm>
            <a:off x="1097280" y="286603"/>
            <a:ext cx="10058400" cy="1450757"/>
          </a:xfrm>
        </p:spPr>
        <p:txBody>
          <a:bodyPr anchor="b">
            <a:normAutofit/>
          </a:bodyPr>
          <a:lstStyle/>
          <a:p>
            <a:r>
              <a:rPr lang="en-US" b="1" dirty="0">
                <a:solidFill>
                  <a:schemeClr val="accent1"/>
                </a:solidFill>
                <a:latin typeface="+mn-lt"/>
              </a:rPr>
              <a:t>PROBLEM STATEMENT</a:t>
            </a:r>
          </a:p>
        </p:txBody>
      </p:sp>
      <p:sp>
        <p:nvSpPr>
          <p:cNvPr id="14" name="Content Placeholder 2">
            <a:extLst>
              <a:ext uri="{FF2B5EF4-FFF2-40B4-BE49-F238E27FC236}">
                <a16:creationId xmlns:a16="http://schemas.microsoft.com/office/drawing/2014/main" id="{044F85B7-8524-9311-C069-BAE9C123AD00}"/>
              </a:ext>
            </a:extLst>
          </p:cNvPr>
          <p:cNvSpPr>
            <a:spLocks noGrp="1"/>
          </p:cNvSpPr>
          <p:nvPr>
            <p:ph sz="half" idx="1"/>
          </p:nvPr>
        </p:nvSpPr>
        <p:spPr>
          <a:xfrm>
            <a:off x="1097280" y="2120900"/>
            <a:ext cx="4639736" cy="4053758"/>
          </a:xfrm>
        </p:spPr>
        <p:txBody>
          <a:bodyPr>
            <a:normAutofit/>
          </a:bodyPr>
          <a:lstStyle/>
          <a:p>
            <a:pPr>
              <a:buFont typeface="Wingdings" panose="05000000000000000000" pitchFamily="2" charset="2"/>
              <a:buChar char="v"/>
            </a:pPr>
            <a:r>
              <a:rPr lang="en-US" dirty="0"/>
              <a:t> Organization need to understand why employees leave.</a:t>
            </a:r>
          </a:p>
          <a:p>
            <a:pPr>
              <a:buFont typeface="Wingdings" panose="05000000000000000000" pitchFamily="2" charset="2"/>
              <a:buChar char="v"/>
            </a:pPr>
            <a:r>
              <a:rPr lang="en-IN" dirty="0"/>
              <a:t> High employee attrition affects organizational productivity, increases recruitment and training costs, and leads to the loss of skilled talent.</a:t>
            </a:r>
            <a:endParaRPr lang="en-US" dirty="0"/>
          </a:p>
          <a:p>
            <a:pPr>
              <a:buFont typeface="Wingdings" panose="05000000000000000000" pitchFamily="2" charset="2"/>
              <a:buChar char="v"/>
            </a:pPr>
            <a:r>
              <a:rPr lang="en-US" dirty="0"/>
              <a:t> The goal is to identify key drivers of attrition using data analysis.</a:t>
            </a:r>
          </a:p>
          <a:p>
            <a:pPr>
              <a:buFont typeface="Wingdings" panose="05000000000000000000" pitchFamily="2" charset="2"/>
              <a:buChar char="v"/>
            </a:pPr>
            <a:r>
              <a:rPr lang="en-US" dirty="0"/>
              <a:t> Insight help HR improve retention and workforce planning.</a:t>
            </a:r>
          </a:p>
          <a:p>
            <a:pPr>
              <a:buFont typeface="Wingdings" panose="05000000000000000000" pitchFamily="2" charset="2"/>
              <a:buChar char="Ø"/>
            </a:pPr>
            <a:endParaRPr lang="en-US" dirty="0"/>
          </a:p>
          <a:p>
            <a:pPr marL="0" indent="0">
              <a:buNone/>
            </a:pPr>
            <a:endParaRPr lang="en-US" dirty="0"/>
          </a:p>
        </p:txBody>
      </p:sp>
      <p:pic>
        <p:nvPicPr>
          <p:cNvPr id="19" name="Content Placeholder 18">
            <a:extLst>
              <a:ext uri="{FF2B5EF4-FFF2-40B4-BE49-F238E27FC236}">
                <a16:creationId xmlns:a16="http://schemas.microsoft.com/office/drawing/2014/main" id="{7E695C7B-D71E-7D53-CA0F-52A2ED2A7B36}"/>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5632" r="-1" b="-1"/>
          <a:stretch>
            <a:fillRect/>
          </a:stretch>
        </p:blipFill>
        <p:spPr>
          <a:xfrm>
            <a:off x="6515944" y="2120900"/>
            <a:ext cx="4639736" cy="3748194"/>
          </a:xfrm>
          <a:noFill/>
        </p:spPr>
      </p:pic>
    </p:spTree>
    <p:extLst>
      <p:ext uri="{BB962C8B-B14F-4D97-AF65-F5344CB8AC3E}">
        <p14:creationId xmlns:p14="http://schemas.microsoft.com/office/powerpoint/2010/main" val="1711699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7CB21-EAE5-6F49-07A6-BA745DA9B76C}"/>
              </a:ext>
            </a:extLst>
          </p:cNvPr>
          <p:cNvSpPr>
            <a:spLocks noGrp="1"/>
          </p:cNvSpPr>
          <p:nvPr>
            <p:ph type="title"/>
          </p:nvPr>
        </p:nvSpPr>
        <p:spPr/>
        <p:txBody>
          <a:bodyPr>
            <a:normAutofit/>
          </a:bodyPr>
          <a:lstStyle/>
          <a:p>
            <a:r>
              <a:rPr lang="en-IN" sz="4000" b="1" dirty="0">
                <a:solidFill>
                  <a:schemeClr val="accent1"/>
                </a:solidFill>
                <a:latin typeface="+mn-lt"/>
              </a:rPr>
              <a:t>DATASET DESCRIPTION</a:t>
            </a:r>
          </a:p>
        </p:txBody>
      </p:sp>
      <p:graphicFrame>
        <p:nvGraphicFramePr>
          <p:cNvPr id="4" name="Content Placeholder 3">
            <a:extLst>
              <a:ext uri="{FF2B5EF4-FFF2-40B4-BE49-F238E27FC236}">
                <a16:creationId xmlns:a16="http://schemas.microsoft.com/office/drawing/2014/main" id="{42D4C15E-DD84-3232-3F97-CF7694967915}"/>
              </a:ext>
            </a:extLst>
          </p:cNvPr>
          <p:cNvGraphicFramePr>
            <a:graphicFrameLocks noGrp="1"/>
          </p:cNvGraphicFramePr>
          <p:nvPr>
            <p:ph idx="1"/>
            <p:extLst>
              <p:ext uri="{D42A27DB-BD31-4B8C-83A1-F6EECF244321}">
                <p14:modId xmlns:p14="http://schemas.microsoft.com/office/powerpoint/2010/main" val="1385748876"/>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3403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C8C76-A432-075F-98A9-2E7720C2A8A9}"/>
              </a:ext>
            </a:extLst>
          </p:cNvPr>
          <p:cNvSpPr>
            <a:spLocks noGrp="1"/>
          </p:cNvSpPr>
          <p:nvPr>
            <p:ph type="title"/>
          </p:nvPr>
        </p:nvSpPr>
        <p:spPr/>
        <p:txBody>
          <a:bodyPr>
            <a:normAutofit/>
          </a:bodyPr>
          <a:lstStyle/>
          <a:p>
            <a:r>
              <a:rPr lang="en-IN" sz="4000" b="1" dirty="0">
                <a:solidFill>
                  <a:schemeClr val="accent1"/>
                </a:solidFill>
                <a:latin typeface="+mn-lt"/>
              </a:rPr>
              <a:t>DATASET CLEANING</a:t>
            </a:r>
          </a:p>
        </p:txBody>
      </p:sp>
      <p:sp>
        <p:nvSpPr>
          <p:cNvPr id="3" name="Content Placeholder 2">
            <a:extLst>
              <a:ext uri="{FF2B5EF4-FFF2-40B4-BE49-F238E27FC236}">
                <a16:creationId xmlns:a16="http://schemas.microsoft.com/office/drawing/2014/main" id="{27632D45-7880-D463-FA9F-542FE8E6F201}"/>
              </a:ext>
            </a:extLst>
          </p:cNvPr>
          <p:cNvSpPr>
            <a:spLocks noGrp="1"/>
          </p:cNvSpPr>
          <p:nvPr>
            <p:ph idx="1"/>
          </p:nvPr>
        </p:nvSpPr>
        <p:spPr>
          <a:xfrm>
            <a:off x="1097280" y="2108201"/>
            <a:ext cx="10058400" cy="4171301"/>
          </a:xfrm>
        </p:spPr>
        <p:txBody>
          <a:bodyPr>
            <a:normAutofit/>
          </a:bodyPr>
          <a:lstStyle/>
          <a:p>
            <a:pPr marL="0" indent="0">
              <a:buNone/>
            </a:pPr>
            <a:r>
              <a:rPr lang="en-US" b="1" dirty="0">
                <a:solidFill>
                  <a:schemeClr val="tx1"/>
                </a:solidFill>
              </a:rPr>
              <a:t>Dataset Verification</a:t>
            </a:r>
          </a:p>
          <a:p>
            <a:pPr>
              <a:buFont typeface="Wingdings" panose="05000000000000000000" pitchFamily="2" charset="2"/>
              <a:buChar char="§"/>
            </a:pPr>
            <a:r>
              <a:rPr lang="en-US" dirty="0">
                <a:solidFill>
                  <a:schemeClr val="tx1"/>
                </a:solidFill>
              </a:rPr>
              <a:t> Imported the dataset into Jupyter Notebook using pandas.</a:t>
            </a:r>
          </a:p>
          <a:p>
            <a:pPr>
              <a:buFont typeface="Wingdings" panose="05000000000000000000" pitchFamily="2" charset="2"/>
              <a:buChar char="§"/>
            </a:pPr>
            <a:r>
              <a:rPr lang="en-US" dirty="0">
                <a:solidFill>
                  <a:schemeClr val="tx1"/>
                </a:solidFill>
              </a:rPr>
              <a:t> Verified the dataset dimensions(1470 rows * 35 columns) and dataset shape.</a:t>
            </a:r>
          </a:p>
          <a:p>
            <a:pPr>
              <a:buFont typeface="Wingdings" panose="05000000000000000000" pitchFamily="2" charset="2"/>
              <a:buChar char="§"/>
            </a:pPr>
            <a:r>
              <a:rPr lang="en-US" dirty="0">
                <a:solidFill>
                  <a:schemeClr val="tx1"/>
                </a:solidFill>
              </a:rPr>
              <a:t> Reviewed column names and data types.</a:t>
            </a:r>
          </a:p>
          <a:p>
            <a:pPr marL="0" indent="0">
              <a:buNone/>
            </a:pPr>
            <a:r>
              <a:rPr lang="en-IN" b="1" dirty="0">
                <a:solidFill>
                  <a:schemeClr val="tx1"/>
                </a:solidFill>
              </a:rPr>
              <a:t>Data Type Validation</a:t>
            </a:r>
          </a:p>
          <a:p>
            <a:pPr marL="0" indent="0">
              <a:buNone/>
            </a:pPr>
            <a:r>
              <a:rPr lang="en-IN" dirty="0">
                <a:solidFill>
                  <a:schemeClr val="tx1"/>
                </a:solidFill>
              </a:rPr>
              <a:t>Verified that:</a:t>
            </a:r>
          </a:p>
          <a:p>
            <a:pPr>
              <a:buFont typeface="Wingdings" panose="05000000000000000000" pitchFamily="2" charset="2"/>
              <a:buChar char="§"/>
            </a:pPr>
            <a:r>
              <a:rPr lang="en-IN" dirty="0">
                <a:solidFill>
                  <a:schemeClr val="tx1"/>
                </a:solidFill>
              </a:rPr>
              <a:t> Numerical columns – Integer(int64)</a:t>
            </a:r>
          </a:p>
          <a:p>
            <a:pPr>
              <a:buFont typeface="Wingdings" panose="05000000000000000000" pitchFamily="2" charset="2"/>
              <a:buChar char="§"/>
            </a:pPr>
            <a:r>
              <a:rPr lang="en-IN" dirty="0">
                <a:solidFill>
                  <a:schemeClr val="tx1"/>
                </a:solidFill>
              </a:rPr>
              <a:t> Categorical columns – Objects</a:t>
            </a:r>
          </a:p>
          <a:p>
            <a:pPr marL="0" indent="0">
              <a:buNone/>
            </a:pPr>
            <a:endParaRPr lang="en-US" dirty="0">
              <a:solidFill>
                <a:schemeClr val="tx1"/>
              </a:solidFill>
            </a:endParaRPr>
          </a:p>
          <a:p>
            <a:pPr marL="0" indent="0">
              <a:buNone/>
            </a:pPr>
            <a:endParaRPr lang="en-US" dirty="0">
              <a:solidFill>
                <a:srgbClr val="5F6368"/>
              </a:solidFill>
            </a:endParaRPr>
          </a:p>
          <a:p>
            <a:pPr marL="0" indent="0">
              <a:buNone/>
            </a:pPr>
            <a:endParaRPr lang="en-US" dirty="0">
              <a:solidFill>
                <a:srgbClr val="5F6368"/>
              </a:solidFill>
            </a:endParaRPr>
          </a:p>
          <a:p>
            <a:endParaRPr lang="en-US" dirty="0"/>
          </a:p>
          <a:p>
            <a:endParaRPr lang="en-IN" dirty="0"/>
          </a:p>
        </p:txBody>
      </p:sp>
    </p:spTree>
    <p:extLst>
      <p:ext uri="{BB962C8B-B14F-4D97-AF65-F5344CB8AC3E}">
        <p14:creationId xmlns:p14="http://schemas.microsoft.com/office/powerpoint/2010/main" val="3035126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52BA6-E921-51C7-F2CB-E86CC553CCC3}"/>
              </a:ext>
            </a:extLst>
          </p:cNvPr>
          <p:cNvSpPr>
            <a:spLocks noGrp="1"/>
          </p:cNvSpPr>
          <p:nvPr>
            <p:ph type="title"/>
          </p:nvPr>
        </p:nvSpPr>
        <p:spPr/>
        <p:txBody>
          <a:bodyPr>
            <a:normAutofit/>
          </a:bodyPr>
          <a:lstStyle/>
          <a:p>
            <a:r>
              <a:rPr lang="en-IN" sz="4000" b="1" dirty="0">
                <a:solidFill>
                  <a:schemeClr val="accent1"/>
                </a:solidFill>
                <a:latin typeface="+mn-lt"/>
              </a:rPr>
              <a:t>DATASET CLEANING</a:t>
            </a:r>
          </a:p>
        </p:txBody>
      </p:sp>
      <p:sp>
        <p:nvSpPr>
          <p:cNvPr id="3" name="Content Placeholder 2">
            <a:extLst>
              <a:ext uri="{FF2B5EF4-FFF2-40B4-BE49-F238E27FC236}">
                <a16:creationId xmlns:a16="http://schemas.microsoft.com/office/drawing/2014/main" id="{83E4AEC0-08B3-2B65-5F14-042BDFED7A07}"/>
              </a:ext>
            </a:extLst>
          </p:cNvPr>
          <p:cNvSpPr>
            <a:spLocks noGrp="1"/>
          </p:cNvSpPr>
          <p:nvPr>
            <p:ph idx="1"/>
          </p:nvPr>
        </p:nvSpPr>
        <p:spPr>
          <a:xfrm>
            <a:off x="1097280" y="2108201"/>
            <a:ext cx="10058400" cy="4031342"/>
          </a:xfrm>
        </p:spPr>
        <p:txBody>
          <a:bodyPr>
            <a:normAutofit/>
          </a:bodyPr>
          <a:lstStyle/>
          <a:p>
            <a:pPr marL="0" indent="0">
              <a:buNone/>
            </a:pPr>
            <a:r>
              <a:rPr lang="en-IN" sz="2000" b="1" dirty="0"/>
              <a:t>Data Cleaning &amp; Preprocessing</a:t>
            </a:r>
          </a:p>
          <a:p>
            <a:endParaRPr lang="en-IN" dirty="0"/>
          </a:p>
          <a:p>
            <a:pPr>
              <a:buFont typeface="Wingdings" panose="05000000000000000000" pitchFamily="2" charset="2"/>
              <a:buChar char="q"/>
            </a:pPr>
            <a:r>
              <a:rPr lang="en-IN" dirty="0"/>
              <a:t> No missing values found.</a:t>
            </a:r>
          </a:p>
          <a:p>
            <a:pPr>
              <a:buFont typeface="Wingdings" panose="05000000000000000000" pitchFamily="2" charset="2"/>
              <a:buChar char="q"/>
            </a:pPr>
            <a:r>
              <a:rPr lang="en-IN" dirty="0"/>
              <a:t> No duplicate records detected.</a:t>
            </a:r>
          </a:p>
          <a:p>
            <a:pPr>
              <a:buFont typeface="Wingdings" panose="05000000000000000000" pitchFamily="2" charset="2"/>
              <a:buChar char="q"/>
            </a:pPr>
            <a:r>
              <a:rPr lang="en-IN" dirty="0"/>
              <a:t> Removed non-informative columns:</a:t>
            </a:r>
          </a:p>
          <a:p>
            <a:pPr lvl="1"/>
            <a:r>
              <a:rPr lang="en-IN" dirty="0"/>
              <a:t>EmployeeCount </a:t>
            </a:r>
          </a:p>
          <a:p>
            <a:pPr lvl="1"/>
            <a:r>
              <a:rPr lang="en-IN" dirty="0"/>
              <a:t>Over18 </a:t>
            </a:r>
          </a:p>
          <a:p>
            <a:pPr lvl="1"/>
            <a:r>
              <a:rPr lang="en-IN" dirty="0"/>
              <a:t>StandardHours </a:t>
            </a:r>
          </a:p>
          <a:p>
            <a:pPr lvl="1"/>
            <a:r>
              <a:rPr lang="en-IN" dirty="0"/>
              <a:t>EmployeeNumber </a:t>
            </a:r>
          </a:p>
          <a:p>
            <a:pPr marL="0" indent="0">
              <a:buNone/>
            </a:pPr>
            <a:endParaRPr lang="en-IN" dirty="0">
              <a:solidFill>
                <a:schemeClr val="tx1"/>
              </a:solidFill>
            </a:endParaRPr>
          </a:p>
          <a:p>
            <a:pPr marL="0" indent="0">
              <a:buNone/>
            </a:pPr>
            <a:endParaRPr lang="en-IN" dirty="0"/>
          </a:p>
          <a:p>
            <a:pPr marL="0" indent="0">
              <a:buNone/>
            </a:pPr>
            <a:endParaRPr lang="en-IN" dirty="0"/>
          </a:p>
        </p:txBody>
      </p:sp>
    </p:spTree>
    <p:extLst>
      <p:ext uri="{BB962C8B-B14F-4D97-AF65-F5344CB8AC3E}">
        <p14:creationId xmlns:p14="http://schemas.microsoft.com/office/powerpoint/2010/main" val="532549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F876B-D23A-58D9-3B37-BF4192B55091}"/>
              </a:ext>
            </a:extLst>
          </p:cNvPr>
          <p:cNvSpPr>
            <a:spLocks noGrp="1"/>
          </p:cNvSpPr>
          <p:nvPr>
            <p:ph type="title"/>
          </p:nvPr>
        </p:nvSpPr>
        <p:spPr/>
        <p:txBody>
          <a:bodyPr/>
          <a:lstStyle/>
          <a:p>
            <a:r>
              <a:rPr lang="en-IN" b="1" dirty="0">
                <a:solidFill>
                  <a:schemeClr val="accent1"/>
                </a:solidFill>
                <a:latin typeface="+mn-lt"/>
              </a:rPr>
              <a:t>Outlier Analysis</a:t>
            </a:r>
          </a:p>
        </p:txBody>
      </p:sp>
      <p:sp>
        <p:nvSpPr>
          <p:cNvPr id="3" name="Content Placeholder 2">
            <a:extLst>
              <a:ext uri="{FF2B5EF4-FFF2-40B4-BE49-F238E27FC236}">
                <a16:creationId xmlns:a16="http://schemas.microsoft.com/office/drawing/2014/main" id="{B35FD693-CB01-FD24-BF5C-157353E0DDF1}"/>
              </a:ext>
            </a:extLst>
          </p:cNvPr>
          <p:cNvSpPr>
            <a:spLocks noGrp="1"/>
          </p:cNvSpPr>
          <p:nvPr>
            <p:ph idx="1"/>
          </p:nvPr>
        </p:nvSpPr>
        <p:spPr/>
        <p:txBody>
          <a:bodyPr/>
          <a:lstStyle/>
          <a:p>
            <a:pPr>
              <a:buFont typeface="Wingdings" panose="05000000000000000000" pitchFamily="2" charset="2"/>
              <a:buChar char="§"/>
            </a:pPr>
            <a:r>
              <a:rPr lang="en-IN" dirty="0"/>
              <a:t> Outliers were identified using the Interquartile Range (IQR) method and box plots.</a:t>
            </a:r>
          </a:p>
          <a:p>
            <a:pPr>
              <a:buFont typeface="Wingdings" panose="05000000000000000000" pitchFamily="2" charset="2"/>
              <a:buChar char="§"/>
            </a:pPr>
            <a:r>
              <a:rPr lang="en-IN" dirty="0"/>
              <a:t> Outliers were observed in variables such as </a:t>
            </a:r>
            <a:r>
              <a:rPr lang="en-IN" b="1" dirty="0"/>
              <a:t>Monthly Income</a:t>
            </a:r>
            <a:r>
              <a:rPr lang="en-IN" dirty="0"/>
              <a:t>, </a:t>
            </a:r>
            <a:r>
              <a:rPr lang="en-IN" b="1" dirty="0"/>
              <a:t>Total Working Years</a:t>
            </a:r>
            <a:r>
              <a:rPr lang="en-IN" dirty="0"/>
              <a:t>, </a:t>
            </a:r>
            <a:r>
              <a:rPr lang="en-IN" b="1" dirty="0"/>
              <a:t>Years at Company</a:t>
            </a:r>
            <a:r>
              <a:rPr lang="en-IN" dirty="0"/>
              <a:t>, and </a:t>
            </a:r>
            <a:r>
              <a:rPr lang="en-IN" b="1" dirty="0"/>
              <a:t>Years Since Last Promotion</a:t>
            </a:r>
            <a:r>
              <a:rPr lang="en-IN" dirty="0"/>
              <a:t>.</a:t>
            </a:r>
          </a:p>
          <a:p>
            <a:pPr>
              <a:buFont typeface="Wingdings" panose="05000000000000000000" pitchFamily="2" charset="2"/>
              <a:buChar char="§"/>
            </a:pPr>
            <a:r>
              <a:rPr lang="en-IN" dirty="0"/>
              <a:t> After reviewing these variables, the outliers were considered valid because they likely represent employees with higher salaries, more work experience or longer service. As these are not error so they are kept for further analysis.</a:t>
            </a:r>
          </a:p>
          <a:p>
            <a:pPr marL="0" indent="0">
              <a:buNone/>
            </a:pPr>
            <a:endParaRPr lang="en-IN" dirty="0"/>
          </a:p>
          <a:p>
            <a:pPr marL="0" indent="0">
              <a:buNone/>
            </a:pPr>
            <a:r>
              <a:rPr lang="en-IN" dirty="0"/>
              <a:t>✔ Dataset prepared for visualization and analysis.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635700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0FBE1-CB15-3B38-58F7-4BEE19C4DCDF}"/>
              </a:ext>
            </a:extLst>
          </p:cNvPr>
          <p:cNvSpPr>
            <a:spLocks noGrp="1"/>
          </p:cNvSpPr>
          <p:nvPr>
            <p:ph type="title"/>
          </p:nvPr>
        </p:nvSpPr>
        <p:spPr/>
        <p:txBody>
          <a:bodyPr/>
          <a:lstStyle/>
          <a:p>
            <a:r>
              <a:rPr lang="en-IN" dirty="0">
                <a:solidFill>
                  <a:schemeClr val="accent1"/>
                </a:solidFill>
              </a:rPr>
              <a:t>EXPLORATORY DATA ANALYSIS</a:t>
            </a:r>
          </a:p>
        </p:txBody>
      </p:sp>
    </p:spTree>
    <p:extLst>
      <p:ext uri="{BB962C8B-B14F-4D97-AF65-F5344CB8AC3E}">
        <p14:creationId xmlns:p14="http://schemas.microsoft.com/office/powerpoint/2010/main" val="1277883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8260-6D2B-E076-2327-D7127C4702B8}"/>
              </a:ext>
            </a:extLst>
          </p:cNvPr>
          <p:cNvSpPr>
            <a:spLocks noGrp="1"/>
          </p:cNvSpPr>
          <p:nvPr>
            <p:ph type="title"/>
          </p:nvPr>
        </p:nvSpPr>
        <p:spPr/>
        <p:txBody>
          <a:bodyPr>
            <a:normAutofit/>
          </a:bodyPr>
          <a:lstStyle/>
          <a:p>
            <a:r>
              <a:rPr lang="en-US" sz="4400" b="1" i="1" dirty="0">
                <a:solidFill>
                  <a:schemeClr val="accent1"/>
                </a:solidFill>
                <a:latin typeface="+mn-lt"/>
              </a:rPr>
              <a:t>Descriptive Analysis</a:t>
            </a:r>
            <a:endParaRPr lang="en-IN" sz="4400" i="1" dirty="0">
              <a:solidFill>
                <a:schemeClr val="accent1"/>
              </a:solidFill>
              <a:latin typeface="+mn-lt"/>
            </a:endParaRPr>
          </a:p>
        </p:txBody>
      </p:sp>
      <p:sp>
        <p:nvSpPr>
          <p:cNvPr id="3" name="Content Placeholder 2">
            <a:extLst>
              <a:ext uri="{FF2B5EF4-FFF2-40B4-BE49-F238E27FC236}">
                <a16:creationId xmlns:a16="http://schemas.microsoft.com/office/drawing/2014/main" id="{E7649C31-3CE7-792E-2DBD-945CE4A82A0B}"/>
              </a:ext>
            </a:extLst>
          </p:cNvPr>
          <p:cNvSpPr>
            <a:spLocks noGrp="1"/>
          </p:cNvSpPr>
          <p:nvPr>
            <p:ph idx="1"/>
          </p:nvPr>
        </p:nvSpPr>
        <p:spPr>
          <a:xfrm>
            <a:off x="1097280" y="2108201"/>
            <a:ext cx="10058400" cy="4076289"/>
          </a:xfrm>
        </p:spPr>
        <p:txBody>
          <a:bodyPr>
            <a:normAutofit fontScale="25000" lnSpcReduction="20000"/>
          </a:bodyPr>
          <a:lstStyle/>
          <a:p>
            <a:r>
              <a:rPr lang="en-IN" sz="5600" b="1" dirty="0"/>
              <a:t>Analysis Performed</a:t>
            </a:r>
            <a:endParaRPr lang="en-IN" sz="5600" dirty="0"/>
          </a:p>
          <a:p>
            <a:pPr>
              <a:buFont typeface="Wingdings" panose="05000000000000000000" pitchFamily="2" charset="2"/>
              <a:buChar char="Ø"/>
            </a:pPr>
            <a:r>
              <a:rPr lang="en-IN" sz="5600" dirty="0"/>
              <a:t> Examined employee demographics (Age, Gender, Department, Job Role). </a:t>
            </a:r>
          </a:p>
          <a:p>
            <a:pPr>
              <a:buFont typeface="Wingdings" panose="05000000000000000000" pitchFamily="2" charset="2"/>
              <a:buChar char="Ø"/>
            </a:pPr>
            <a:r>
              <a:rPr lang="en-IN" sz="5600" dirty="0"/>
              <a:t> Calculated summary statistics such as mean, median, minimum, and maximum for numerical variables. </a:t>
            </a:r>
          </a:p>
          <a:p>
            <a:pPr>
              <a:buFont typeface="Wingdings" panose="05000000000000000000" pitchFamily="2" charset="2"/>
              <a:buChar char="Ø"/>
            </a:pPr>
            <a:r>
              <a:rPr lang="en-IN" sz="5600" dirty="0"/>
              <a:t> Analysed the distribution of key variables like Monthly Income, Years at Company, and Age. </a:t>
            </a:r>
          </a:p>
          <a:p>
            <a:pPr>
              <a:buFont typeface="Wingdings" panose="05000000000000000000" pitchFamily="2" charset="2"/>
              <a:buChar char="Ø"/>
            </a:pPr>
            <a:r>
              <a:rPr lang="en-IN" sz="5600" dirty="0"/>
              <a:t> Reviewed the frequency of categorical variables such as Attrition, Department, and Overtime. </a:t>
            </a:r>
            <a:endParaRPr lang="en-IN" sz="4300" dirty="0"/>
          </a:p>
          <a:p>
            <a:r>
              <a:rPr lang="en-IN" sz="5600" b="1" dirty="0"/>
              <a:t>Key Findings </a:t>
            </a:r>
          </a:p>
          <a:p>
            <a:pPr>
              <a:buFont typeface="Wingdings" panose="05000000000000000000" pitchFamily="2" charset="2"/>
              <a:buChar char="Ø"/>
            </a:pPr>
            <a:r>
              <a:rPr lang="en-IN" sz="5600" dirty="0"/>
              <a:t> The dataset contains </a:t>
            </a:r>
            <a:r>
              <a:rPr lang="en-IN" sz="5600" b="1" dirty="0"/>
              <a:t>1,470 employee records</a:t>
            </a:r>
            <a:r>
              <a:rPr lang="en-IN" sz="5600" dirty="0"/>
              <a:t> with </a:t>
            </a:r>
            <a:r>
              <a:rPr lang="en-IN" sz="5600" b="1" dirty="0"/>
              <a:t>35 features</a:t>
            </a:r>
            <a:r>
              <a:rPr lang="en-IN" sz="5600" dirty="0"/>
              <a:t>. </a:t>
            </a:r>
          </a:p>
          <a:p>
            <a:pPr>
              <a:buFont typeface="Wingdings" panose="05000000000000000000" pitchFamily="2" charset="2"/>
              <a:buChar char="Ø"/>
            </a:pPr>
            <a:r>
              <a:rPr lang="en-IN" sz="5600" dirty="0"/>
              <a:t> The average employee age is approximately </a:t>
            </a:r>
            <a:r>
              <a:rPr lang="en-IN" sz="5600" b="1" dirty="0"/>
              <a:t>37 years</a:t>
            </a:r>
            <a:r>
              <a:rPr lang="en-IN" sz="5600" dirty="0"/>
              <a:t>. </a:t>
            </a:r>
          </a:p>
          <a:p>
            <a:pPr>
              <a:buFont typeface="Wingdings" panose="05000000000000000000" pitchFamily="2" charset="2"/>
              <a:buChar char="Ø"/>
            </a:pPr>
            <a:r>
              <a:rPr lang="en-IN" sz="5600" dirty="0"/>
              <a:t> The average monthly income is approximately </a:t>
            </a:r>
            <a:r>
              <a:rPr lang="en-IN" sz="5600" b="1" dirty="0"/>
              <a:t>₹6,500</a:t>
            </a:r>
            <a:r>
              <a:rPr lang="en-IN" sz="5600" dirty="0"/>
              <a:t> (or </a:t>
            </a:r>
            <a:r>
              <a:rPr lang="en-IN" sz="5600" b="1" dirty="0"/>
              <a:t>6500</a:t>
            </a:r>
            <a:r>
              <a:rPr lang="en-IN" sz="5600" dirty="0"/>
              <a:t> in the dataset's units). </a:t>
            </a:r>
          </a:p>
          <a:p>
            <a:pPr>
              <a:buFont typeface="Wingdings" panose="05000000000000000000" pitchFamily="2" charset="2"/>
              <a:buChar char="Ø"/>
            </a:pPr>
            <a:r>
              <a:rPr lang="en-IN" sz="5600" dirty="0"/>
              <a:t> Approximately </a:t>
            </a:r>
            <a:r>
              <a:rPr lang="en-IN" sz="5600" b="1" dirty="0"/>
              <a:t>16.1%</a:t>
            </a:r>
            <a:r>
              <a:rPr lang="en-IN" sz="5600" dirty="0"/>
              <a:t> of employees left the organization. </a:t>
            </a:r>
          </a:p>
          <a:p>
            <a:pPr>
              <a:buFont typeface="Wingdings" panose="05000000000000000000" pitchFamily="2" charset="2"/>
              <a:buChar char="Ø"/>
            </a:pPr>
            <a:r>
              <a:rPr lang="en-IN" sz="5600" dirty="0"/>
              <a:t> Most employees belong to the </a:t>
            </a:r>
            <a:r>
              <a:rPr lang="en-IN" sz="5600" b="1" dirty="0"/>
              <a:t>Research &amp; Development</a:t>
            </a:r>
            <a:r>
              <a:rPr lang="en-IN" sz="5600" dirty="0"/>
              <a:t> department.</a:t>
            </a:r>
          </a:p>
          <a:p>
            <a:endParaRPr lang="en-US" b="1" dirty="0">
              <a:solidFill>
                <a:srgbClr val="5F6368"/>
              </a:solidFill>
              <a:latin typeface="arial" panose="020B0604020202020204" pitchFamily="34" charset="0"/>
            </a:endParaRPr>
          </a:p>
          <a:p>
            <a:endParaRPr lang="en-US" dirty="0"/>
          </a:p>
          <a:p>
            <a:endParaRPr lang="en-IN" dirty="0"/>
          </a:p>
          <a:p>
            <a:endParaRPr lang="en-IN" dirty="0"/>
          </a:p>
          <a:p>
            <a:r>
              <a:rPr lang="en-US" dirty="0"/>
              <a:t>:</a:t>
            </a:r>
            <a:endParaRPr lang="en-IN" dirty="0"/>
          </a:p>
        </p:txBody>
      </p:sp>
    </p:spTree>
    <p:extLst>
      <p:ext uri="{BB962C8B-B14F-4D97-AF65-F5344CB8AC3E}">
        <p14:creationId xmlns:p14="http://schemas.microsoft.com/office/powerpoint/2010/main" val="654322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B4526-5D7C-3A24-73F7-2D2685297F10}"/>
              </a:ext>
            </a:extLst>
          </p:cNvPr>
          <p:cNvSpPr>
            <a:spLocks noGrp="1"/>
          </p:cNvSpPr>
          <p:nvPr>
            <p:ph type="title"/>
          </p:nvPr>
        </p:nvSpPr>
        <p:spPr>
          <a:xfrm>
            <a:off x="1097280" y="286603"/>
            <a:ext cx="10058400" cy="1450757"/>
          </a:xfrm>
        </p:spPr>
        <p:txBody>
          <a:bodyPr anchor="b">
            <a:normAutofit/>
          </a:bodyPr>
          <a:lstStyle/>
          <a:p>
            <a:r>
              <a:rPr lang="en-IN" sz="4400" b="1" i="1" dirty="0">
                <a:solidFill>
                  <a:schemeClr val="accent1"/>
                </a:solidFill>
                <a:latin typeface="+mn-lt"/>
              </a:rPr>
              <a:t>Overall Employee Attrition</a:t>
            </a:r>
          </a:p>
        </p:txBody>
      </p:sp>
      <p:sp>
        <p:nvSpPr>
          <p:cNvPr id="4" name="Content Placeholder 3">
            <a:extLst>
              <a:ext uri="{FF2B5EF4-FFF2-40B4-BE49-F238E27FC236}">
                <a16:creationId xmlns:a16="http://schemas.microsoft.com/office/drawing/2014/main" id="{4F0E06A7-B5BC-69E2-E12E-80AE8EA09B6C}"/>
              </a:ext>
            </a:extLst>
          </p:cNvPr>
          <p:cNvSpPr>
            <a:spLocks noGrp="1"/>
          </p:cNvSpPr>
          <p:nvPr>
            <p:ph sz="half" idx="1"/>
          </p:nvPr>
        </p:nvSpPr>
        <p:spPr>
          <a:xfrm>
            <a:off x="1097280" y="2120900"/>
            <a:ext cx="4639736" cy="3748193"/>
          </a:xfrm>
        </p:spPr>
        <p:txBody>
          <a:bodyPr>
            <a:normAutofit/>
          </a:bodyPr>
          <a:lstStyle/>
          <a:p>
            <a:pPr marL="0" indent="0">
              <a:buNone/>
            </a:pPr>
            <a:r>
              <a:rPr lang="en-IN" sz="1600" b="1" dirty="0"/>
              <a:t>Observation</a:t>
            </a:r>
          </a:p>
          <a:p>
            <a:pPr>
              <a:buFont typeface="Wingdings" panose="05000000000000000000" pitchFamily="2" charset="2"/>
              <a:buChar char="Ø"/>
            </a:pPr>
            <a:r>
              <a:rPr lang="en-IN" sz="1600" dirty="0"/>
              <a:t> </a:t>
            </a:r>
            <a:r>
              <a:rPr lang="en-IN" sz="1800" dirty="0"/>
              <a:t>237 employees left the company.</a:t>
            </a:r>
          </a:p>
          <a:p>
            <a:pPr>
              <a:buFont typeface="Wingdings" panose="05000000000000000000" pitchFamily="2" charset="2"/>
              <a:buChar char="Ø"/>
            </a:pPr>
            <a:r>
              <a:rPr lang="en-IN" sz="1800" dirty="0"/>
              <a:t> Attrition rate is 16.1%.</a:t>
            </a:r>
          </a:p>
          <a:p>
            <a:pPr>
              <a:buFont typeface="Wingdings" panose="05000000000000000000" pitchFamily="2" charset="2"/>
              <a:buChar char="Ø"/>
            </a:pPr>
            <a:r>
              <a:rPr lang="en-IN" sz="1800" dirty="0"/>
              <a:t> Approximately 1 in 6 employees resigned.</a:t>
            </a:r>
          </a:p>
        </p:txBody>
      </p:sp>
      <p:pic>
        <p:nvPicPr>
          <p:cNvPr id="6" name="Content Placeholder 5">
            <a:extLst>
              <a:ext uri="{FF2B5EF4-FFF2-40B4-BE49-F238E27FC236}">
                <a16:creationId xmlns:a16="http://schemas.microsoft.com/office/drawing/2014/main" id="{04F8922E-5C9D-ED0C-A405-E7B39510AA58}"/>
              </a:ext>
            </a:extLst>
          </p:cNvPr>
          <p:cNvPicPr>
            <a:picLocks noGrp="1" noChangeAspect="1"/>
          </p:cNvPicPr>
          <p:nvPr>
            <p:ph sz="half" idx="2"/>
          </p:nvPr>
        </p:nvPicPr>
        <p:blipFill>
          <a:blip r:embed="rId2"/>
          <a:stretch>
            <a:fillRect/>
          </a:stretch>
        </p:blipFill>
        <p:spPr>
          <a:xfrm>
            <a:off x="5978013" y="2120900"/>
            <a:ext cx="4945929" cy="4053758"/>
          </a:xfrm>
          <a:prstGeom prst="rect">
            <a:avLst/>
          </a:prstGeom>
          <a:noFill/>
        </p:spPr>
      </p:pic>
    </p:spTree>
    <p:extLst>
      <p:ext uri="{BB962C8B-B14F-4D97-AF65-F5344CB8AC3E}">
        <p14:creationId xmlns:p14="http://schemas.microsoft.com/office/powerpoint/2010/main" val="1037539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35D0D-176D-A978-32B5-836FCAAC521C}"/>
              </a:ext>
            </a:extLst>
          </p:cNvPr>
          <p:cNvSpPr>
            <a:spLocks noGrp="1"/>
          </p:cNvSpPr>
          <p:nvPr>
            <p:ph type="title"/>
          </p:nvPr>
        </p:nvSpPr>
        <p:spPr/>
        <p:txBody>
          <a:bodyPr>
            <a:normAutofit/>
          </a:bodyPr>
          <a:lstStyle/>
          <a:p>
            <a:r>
              <a:rPr lang="en-IN" sz="4400" b="1" i="1" dirty="0">
                <a:solidFill>
                  <a:schemeClr val="accent1"/>
                </a:solidFill>
                <a:latin typeface="+mn-lt"/>
              </a:rPr>
              <a:t>Attrition by Department</a:t>
            </a:r>
          </a:p>
        </p:txBody>
      </p:sp>
      <p:pic>
        <p:nvPicPr>
          <p:cNvPr id="6" name="Content Placeholder 5">
            <a:extLst>
              <a:ext uri="{FF2B5EF4-FFF2-40B4-BE49-F238E27FC236}">
                <a16:creationId xmlns:a16="http://schemas.microsoft.com/office/drawing/2014/main" id="{00AC814C-14E2-FE8F-7B71-DB0B9FEC0A41}"/>
              </a:ext>
            </a:extLst>
          </p:cNvPr>
          <p:cNvPicPr>
            <a:picLocks noGrp="1" noChangeAspect="1"/>
          </p:cNvPicPr>
          <p:nvPr>
            <p:ph sz="half" idx="1"/>
          </p:nvPr>
        </p:nvPicPr>
        <p:blipFill>
          <a:blip r:embed="rId2"/>
          <a:stretch>
            <a:fillRect/>
          </a:stretch>
        </p:blipFill>
        <p:spPr>
          <a:xfrm>
            <a:off x="668594" y="2311615"/>
            <a:ext cx="6243483" cy="3823714"/>
          </a:xfrm>
          <a:prstGeom prst="rect">
            <a:avLst/>
          </a:prstGeom>
        </p:spPr>
      </p:pic>
      <p:sp>
        <p:nvSpPr>
          <p:cNvPr id="4" name="Content Placeholder 3">
            <a:extLst>
              <a:ext uri="{FF2B5EF4-FFF2-40B4-BE49-F238E27FC236}">
                <a16:creationId xmlns:a16="http://schemas.microsoft.com/office/drawing/2014/main" id="{B6FA37AD-F22F-5FD7-A890-FED6C46156EA}"/>
              </a:ext>
            </a:extLst>
          </p:cNvPr>
          <p:cNvSpPr>
            <a:spLocks noGrp="1"/>
          </p:cNvSpPr>
          <p:nvPr>
            <p:ph sz="half" idx="2"/>
          </p:nvPr>
        </p:nvSpPr>
        <p:spPr>
          <a:xfrm>
            <a:off x="7334865" y="3913238"/>
            <a:ext cx="4375353" cy="1955855"/>
          </a:xfrm>
        </p:spPr>
        <p:txBody>
          <a:bodyPr>
            <a:normAutofit/>
          </a:bodyPr>
          <a:lstStyle/>
          <a:p>
            <a:r>
              <a:rPr lang="en-IN" sz="1600" b="1" dirty="0"/>
              <a:t>Observation</a:t>
            </a:r>
            <a:br>
              <a:rPr lang="en-IN" sz="1600" dirty="0"/>
            </a:br>
            <a:br>
              <a:rPr lang="en-IN" sz="1600" dirty="0"/>
            </a:br>
            <a:r>
              <a:rPr lang="en-IN" sz="1600" dirty="0"/>
              <a:t>✔ Research &amp; Development department has the highest attrition followed by Sales.</a:t>
            </a:r>
            <a:br>
              <a:rPr lang="en-IN" sz="1600" dirty="0"/>
            </a:br>
            <a:br>
              <a:rPr lang="en-IN" sz="1600" dirty="0"/>
            </a:br>
            <a:r>
              <a:rPr lang="en-IN" sz="1600" dirty="0"/>
              <a:t>✔ HR has the lowest attrition.</a:t>
            </a:r>
          </a:p>
        </p:txBody>
      </p:sp>
    </p:spTree>
    <p:extLst>
      <p:ext uri="{BB962C8B-B14F-4D97-AF65-F5344CB8AC3E}">
        <p14:creationId xmlns:p14="http://schemas.microsoft.com/office/powerpoint/2010/main" val="4276892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BC5D-3C09-7A29-3046-BF6BFE0E319C}"/>
              </a:ext>
            </a:extLst>
          </p:cNvPr>
          <p:cNvSpPr>
            <a:spLocks noGrp="1"/>
          </p:cNvSpPr>
          <p:nvPr>
            <p:ph type="title"/>
          </p:nvPr>
        </p:nvSpPr>
        <p:spPr>
          <a:xfrm>
            <a:off x="1097280" y="286603"/>
            <a:ext cx="10058400" cy="1450757"/>
          </a:xfrm>
        </p:spPr>
        <p:txBody>
          <a:bodyPr anchor="b">
            <a:normAutofit/>
          </a:bodyPr>
          <a:lstStyle/>
          <a:p>
            <a:r>
              <a:rPr lang="en-IN" sz="4400" b="1" i="1" dirty="0">
                <a:solidFill>
                  <a:schemeClr val="accent1"/>
                </a:solidFill>
                <a:latin typeface="+mn-lt"/>
              </a:rPr>
              <a:t>Attrition by Job Role</a:t>
            </a:r>
          </a:p>
        </p:txBody>
      </p:sp>
      <p:sp>
        <p:nvSpPr>
          <p:cNvPr id="4" name="Content Placeholder 3">
            <a:extLst>
              <a:ext uri="{FF2B5EF4-FFF2-40B4-BE49-F238E27FC236}">
                <a16:creationId xmlns:a16="http://schemas.microsoft.com/office/drawing/2014/main" id="{1EE90D84-0C74-C210-19F0-54C401CE50A9}"/>
              </a:ext>
            </a:extLst>
          </p:cNvPr>
          <p:cNvSpPr>
            <a:spLocks noGrp="1"/>
          </p:cNvSpPr>
          <p:nvPr>
            <p:ph sz="half" idx="1"/>
          </p:nvPr>
        </p:nvSpPr>
        <p:spPr>
          <a:xfrm>
            <a:off x="1097281" y="2428568"/>
            <a:ext cx="3194802" cy="3883742"/>
          </a:xfrm>
        </p:spPr>
        <p:txBody>
          <a:bodyPr>
            <a:normAutofit fontScale="47500" lnSpcReduction="20000"/>
          </a:bodyPr>
          <a:lstStyle/>
          <a:p>
            <a:pPr marL="0" indent="0">
              <a:buNone/>
            </a:pPr>
            <a:r>
              <a:rPr lang="en-IN" sz="3400" b="1" dirty="0"/>
              <a:t>Observation</a:t>
            </a:r>
            <a:br>
              <a:rPr lang="en-IN" sz="3400" dirty="0"/>
            </a:br>
            <a:br>
              <a:rPr lang="en-IN" sz="3400" dirty="0"/>
            </a:br>
            <a:r>
              <a:rPr lang="en-IN" sz="3400" dirty="0">
                <a:solidFill>
                  <a:schemeClr val="tx1"/>
                </a:solidFill>
              </a:rPr>
              <a:t>Operational and customer-facing roles</a:t>
            </a:r>
            <a:br>
              <a:rPr lang="en-IN" sz="3400" dirty="0">
                <a:solidFill>
                  <a:schemeClr val="tx1"/>
                </a:solidFill>
              </a:rPr>
            </a:br>
            <a:r>
              <a:rPr lang="en-IN" sz="3400" dirty="0">
                <a:solidFill>
                  <a:schemeClr val="tx1"/>
                </a:solidFill>
              </a:rPr>
              <a:t>show higher employee turnover.</a:t>
            </a:r>
          </a:p>
          <a:p>
            <a:pPr>
              <a:buFont typeface="Wingdings" panose="05000000000000000000" pitchFamily="2" charset="2"/>
              <a:buChar char="§"/>
            </a:pPr>
            <a:r>
              <a:rPr lang="en-IN" sz="3400" dirty="0">
                <a:solidFill>
                  <a:schemeClr val="tx1"/>
                </a:solidFill>
              </a:rPr>
              <a:t> Laboratory Technicians have the highest number of employees leaving. </a:t>
            </a:r>
          </a:p>
          <a:p>
            <a:pPr>
              <a:buFont typeface="Wingdings" panose="05000000000000000000" pitchFamily="2" charset="2"/>
              <a:buChar char="§"/>
            </a:pPr>
            <a:r>
              <a:rPr lang="en-IN" sz="3400" dirty="0">
                <a:solidFill>
                  <a:schemeClr val="tx1"/>
                </a:solidFill>
              </a:rPr>
              <a:t> Sales Executives and Research Scientists also show relatively high attrition. </a:t>
            </a:r>
          </a:p>
          <a:p>
            <a:pPr>
              <a:buFont typeface="Wingdings" panose="05000000000000000000" pitchFamily="2" charset="2"/>
              <a:buChar char="§"/>
            </a:pPr>
            <a:r>
              <a:rPr lang="en-IN" sz="3400" dirty="0">
                <a:solidFill>
                  <a:schemeClr val="tx1"/>
                </a:solidFill>
              </a:rPr>
              <a:t> Managerial and senior-level roles have comparatively lower attrition. </a:t>
            </a:r>
          </a:p>
          <a:p>
            <a:pPr marL="0" indent="0">
              <a:buNone/>
            </a:pPr>
            <a:endParaRPr lang="en-IN" dirty="0"/>
          </a:p>
          <a:p>
            <a:endParaRPr lang="en-IN" dirty="0"/>
          </a:p>
        </p:txBody>
      </p:sp>
      <p:pic>
        <p:nvPicPr>
          <p:cNvPr id="6" name="Content Placeholder 5">
            <a:extLst>
              <a:ext uri="{FF2B5EF4-FFF2-40B4-BE49-F238E27FC236}">
                <a16:creationId xmlns:a16="http://schemas.microsoft.com/office/drawing/2014/main" id="{EB55BD5E-8A43-9BB9-1F80-C0E006051D64}"/>
              </a:ext>
            </a:extLst>
          </p:cNvPr>
          <p:cNvPicPr>
            <a:picLocks noGrp="1" noChangeAspect="1"/>
          </p:cNvPicPr>
          <p:nvPr>
            <p:ph sz="half" idx="2"/>
          </p:nvPr>
        </p:nvPicPr>
        <p:blipFill>
          <a:blip r:embed="rId2"/>
          <a:stretch>
            <a:fillRect/>
          </a:stretch>
        </p:blipFill>
        <p:spPr>
          <a:xfrm>
            <a:off x="4469363" y="2064774"/>
            <a:ext cx="7455937" cy="4247536"/>
          </a:xfrm>
          <a:prstGeom prst="rect">
            <a:avLst/>
          </a:prstGeom>
          <a:noFill/>
        </p:spPr>
      </p:pic>
    </p:spTree>
    <p:extLst>
      <p:ext uri="{BB962C8B-B14F-4D97-AF65-F5344CB8AC3E}">
        <p14:creationId xmlns:p14="http://schemas.microsoft.com/office/powerpoint/2010/main" val="4223359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73E60-A53C-562E-7169-73319315921C}"/>
              </a:ext>
            </a:extLst>
          </p:cNvPr>
          <p:cNvSpPr>
            <a:spLocks noGrp="1"/>
          </p:cNvSpPr>
          <p:nvPr>
            <p:ph type="title"/>
          </p:nvPr>
        </p:nvSpPr>
        <p:spPr>
          <a:xfrm>
            <a:off x="1097280" y="286603"/>
            <a:ext cx="10058400" cy="1450757"/>
          </a:xfrm>
        </p:spPr>
        <p:txBody>
          <a:bodyPr anchor="b">
            <a:normAutofit/>
          </a:bodyPr>
          <a:lstStyle/>
          <a:p>
            <a:r>
              <a:rPr lang="en-IN" sz="4400" b="1" i="1" dirty="0">
                <a:solidFill>
                  <a:schemeClr val="accent1"/>
                </a:solidFill>
                <a:latin typeface="+mn-lt"/>
              </a:rPr>
              <a:t>Attrition by Monthly Income </a:t>
            </a:r>
          </a:p>
        </p:txBody>
      </p:sp>
      <p:sp>
        <p:nvSpPr>
          <p:cNvPr id="4" name="Content Placeholder 3">
            <a:extLst>
              <a:ext uri="{FF2B5EF4-FFF2-40B4-BE49-F238E27FC236}">
                <a16:creationId xmlns:a16="http://schemas.microsoft.com/office/drawing/2014/main" id="{88754ABE-28FC-55AE-F7AF-2C34D8FE5BC8}"/>
              </a:ext>
            </a:extLst>
          </p:cNvPr>
          <p:cNvSpPr>
            <a:spLocks noGrp="1"/>
          </p:cNvSpPr>
          <p:nvPr>
            <p:ph sz="half" idx="2"/>
          </p:nvPr>
        </p:nvSpPr>
        <p:spPr>
          <a:xfrm>
            <a:off x="7043387" y="5057192"/>
            <a:ext cx="4639736" cy="1315616"/>
          </a:xfrm>
        </p:spPr>
        <p:txBody>
          <a:bodyPr>
            <a:normAutofit/>
          </a:bodyPr>
          <a:lstStyle/>
          <a:p>
            <a:r>
              <a:rPr lang="en-IN" sz="1800" b="1" dirty="0"/>
              <a:t>Observation</a:t>
            </a:r>
            <a:br>
              <a:rPr lang="en-IN" sz="1800" dirty="0"/>
            </a:br>
            <a:br>
              <a:rPr lang="en-IN" sz="1800" dirty="0"/>
            </a:br>
            <a:r>
              <a:rPr lang="en-IN" sz="1800" dirty="0"/>
              <a:t>Employees with lower salaries are more</a:t>
            </a:r>
            <a:br>
              <a:rPr lang="en-IN" sz="1800" dirty="0"/>
            </a:br>
            <a:r>
              <a:rPr lang="en-IN" sz="1800" dirty="0"/>
              <a:t>likely to leave the organization.</a:t>
            </a:r>
          </a:p>
        </p:txBody>
      </p:sp>
      <p:pic>
        <p:nvPicPr>
          <p:cNvPr id="8" name="Picture 7">
            <a:extLst>
              <a:ext uri="{FF2B5EF4-FFF2-40B4-BE49-F238E27FC236}">
                <a16:creationId xmlns:a16="http://schemas.microsoft.com/office/drawing/2014/main" id="{6EFAD0D3-1F19-F461-5F0C-42D36D87C673}"/>
              </a:ext>
            </a:extLst>
          </p:cNvPr>
          <p:cNvPicPr>
            <a:picLocks noChangeAspect="1"/>
          </p:cNvPicPr>
          <p:nvPr/>
        </p:nvPicPr>
        <p:blipFill>
          <a:blip r:embed="rId2"/>
          <a:stretch>
            <a:fillRect/>
          </a:stretch>
        </p:blipFill>
        <p:spPr>
          <a:xfrm>
            <a:off x="6779622" y="2237214"/>
            <a:ext cx="4639736" cy="2614704"/>
          </a:xfrm>
          <a:prstGeom prst="rect">
            <a:avLst/>
          </a:prstGeom>
        </p:spPr>
      </p:pic>
      <p:pic>
        <p:nvPicPr>
          <p:cNvPr id="7" name="Content Placeholder 6">
            <a:extLst>
              <a:ext uri="{FF2B5EF4-FFF2-40B4-BE49-F238E27FC236}">
                <a16:creationId xmlns:a16="http://schemas.microsoft.com/office/drawing/2014/main" id="{FA283884-D277-21C1-48F2-F5DFEF87A43C}"/>
              </a:ext>
            </a:extLst>
          </p:cNvPr>
          <p:cNvPicPr>
            <a:picLocks noGrp="1" noChangeAspect="1"/>
          </p:cNvPicPr>
          <p:nvPr>
            <p:ph sz="half" idx="1"/>
          </p:nvPr>
        </p:nvPicPr>
        <p:blipFill>
          <a:blip r:embed="rId3"/>
          <a:stretch>
            <a:fillRect/>
          </a:stretch>
        </p:blipFill>
        <p:spPr>
          <a:xfrm>
            <a:off x="599768" y="2310051"/>
            <a:ext cx="5137457" cy="3795781"/>
          </a:xfrm>
          <a:prstGeom prst="rect">
            <a:avLst/>
          </a:prstGeom>
        </p:spPr>
      </p:pic>
    </p:spTree>
    <p:extLst>
      <p:ext uri="{BB962C8B-B14F-4D97-AF65-F5344CB8AC3E}">
        <p14:creationId xmlns:p14="http://schemas.microsoft.com/office/powerpoint/2010/main" val="2230214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8B49F-B913-0214-2C2B-51FE4E29E35E}"/>
              </a:ext>
            </a:extLst>
          </p:cNvPr>
          <p:cNvSpPr>
            <a:spLocks noGrp="1"/>
          </p:cNvSpPr>
          <p:nvPr>
            <p:ph type="title"/>
          </p:nvPr>
        </p:nvSpPr>
        <p:spPr>
          <a:xfrm>
            <a:off x="1097280" y="286603"/>
            <a:ext cx="10058400" cy="1450757"/>
          </a:xfrm>
        </p:spPr>
        <p:txBody>
          <a:bodyPr anchor="b">
            <a:normAutofit/>
          </a:bodyPr>
          <a:lstStyle/>
          <a:p>
            <a:r>
              <a:rPr lang="en-IN" sz="4400" b="1" i="1" dirty="0">
                <a:solidFill>
                  <a:schemeClr val="accent1"/>
                </a:solidFill>
                <a:latin typeface="+mn-lt"/>
              </a:rPr>
              <a:t>Attrition by Overtime</a:t>
            </a:r>
          </a:p>
        </p:txBody>
      </p:sp>
      <p:sp>
        <p:nvSpPr>
          <p:cNvPr id="4" name="Content Placeholder 3">
            <a:extLst>
              <a:ext uri="{FF2B5EF4-FFF2-40B4-BE49-F238E27FC236}">
                <a16:creationId xmlns:a16="http://schemas.microsoft.com/office/drawing/2014/main" id="{6E98D23B-816F-6CBE-713E-F61DFB02EE83}"/>
              </a:ext>
            </a:extLst>
          </p:cNvPr>
          <p:cNvSpPr>
            <a:spLocks noGrp="1"/>
          </p:cNvSpPr>
          <p:nvPr>
            <p:ph sz="half" idx="1"/>
          </p:nvPr>
        </p:nvSpPr>
        <p:spPr>
          <a:xfrm>
            <a:off x="1097280" y="3352800"/>
            <a:ext cx="4639736" cy="2447832"/>
          </a:xfrm>
        </p:spPr>
        <p:txBody>
          <a:bodyPr>
            <a:normAutofit lnSpcReduction="10000"/>
          </a:bodyPr>
          <a:lstStyle/>
          <a:p>
            <a:r>
              <a:rPr lang="en-IN" b="1" dirty="0"/>
              <a:t>Observation</a:t>
            </a:r>
          </a:p>
          <a:p>
            <a:pPr>
              <a:buFont typeface="Wingdings" panose="05000000000000000000" pitchFamily="2" charset="2"/>
              <a:buChar char="q"/>
            </a:pPr>
            <a:r>
              <a:rPr lang="en-IN" dirty="0"/>
              <a:t> </a:t>
            </a:r>
            <a:r>
              <a:rPr lang="en-IN" sz="1700" dirty="0"/>
              <a:t>Employees working overtime</a:t>
            </a:r>
            <a:br>
              <a:rPr lang="en-IN" sz="1700" dirty="0"/>
            </a:br>
            <a:r>
              <a:rPr lang="en-IN" sz="1700" dirty="0"/>
              <a:t>show significantly higher attrition.</a:t>
            </a:r>
          </a:p>
          <a:p>
            <a:pPr>
              <a:buFont typeface="Wingdings" panose="05000000000000000000" pitchFamily="2" charset="2"/>
              <a:buChar char="q"/>
            </a:pPr>
            <a:r>
              <a:rPr lang="en-IN" sz="1700" dirty="0"/>
              <a:t> While only a minority of the workforce works overtime (usually around 28-30% of total staff), they represent a massive, disproportionate percentage of the total pool of people who resign.</a:t>
            </a:r>
          </a:p>
        </p:txBody>
      </p:sp>
      <p:pic>
        <p:nvPicPr>
          <p:cNvPr id="6" name="Content Placeholder 5">
            <a:extLst>
              <a:ext uri="{FF2B5EF4-FFF2-40B4-BE49-F238E27FC236}">
                <a16:creationId xmlns:a16="http://schemas.microsoft.com/office/drawing/2014/main" id="{0322CC72-F397-9095-F505-912851D2FE09}"/>
              </a:ext>
            </a:extLst>
          </p:cNvPr>
          <p:cNvPicPr>
            <a:picLocks noGrp="1" noChangeAspect="1"/>
          </p:cNvPicPr>
          <p:nvPr>
            <p:ph sz="half" idx="2"/>
          </p:nvPr>
        </p:nvPicPr>
        <p:blipFill>
          <a:blip r:embed="rId2"/>
          <a:stretch>
            <a:fillRect/>
          </a:stretch>
        </p:blipFill>
        <p:spPr>
          <a:xfrm>
            <a:off x="5737015" y="2347890"/>
            <a:ext cx="6071527" cy="3904743"/>
          </a:xfrm>
          <a:prstGeom prst="rect">
            <a:avLst/>
          </a:prstGeom>
          <a:noFill/>
        </p:spPr>
      </p:pic>
    </p:spTree>
    <p:extLst>
      <p:ext uri="{BB962C8B-B14F-4D97-AF65-F5344CB8AC3E}">
        <p14:creationId xmlns:p14="http://schemas.microsoft.com/office/powerpoint/2010/main" val="1112291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C526-9B4C-A229-C06D-D66E0945AACB}"/>
              </a:ext>
            </a:extLst>
          </p:cNvPr>
          <p:cNvSpPr>
            <a:spLocks noGrp="1"/>
          </p:cNvSpPr>
          <p:nvPr>
            <p:ph type="title"/>
          </p:nvPr>
        </p:nvSpPr>
        <p:spPr>
          <a:xfrm>
            <a:off x="1097280" y="286603"/>
            <a:ext cx="10058400" cy="1450757"/>
          </a:xfrm>
        </p:spPr>
        <p:txBody>
          <a:bodyPr anchor="b">
            <a:normAutofit/>
          </a:bodyPr>
          <a:lstStyle/>
          <a:p>
            <a:r>
              <a:rPr lang="en-IN" sz="4400" b="1" dirty="0">
                <a:solidFill>
                  <a:schemeClr val="accent1"/>
                </a:solidFill>
                <a:latin typeface="+mn-lt"/>
              </a:rPr>
              <a:t>Attrition by Age</a:t>
            </a:r>
          </a:p>
        </p:txBody>
      </p:sp>
      <p:pic>
        <p:nvPicPr>
          <p:cNvPr id="6" name="Content Placeholder 5">
            <a:extLst>
              <a:ext uri="{FF2B5EF4-FFF2-40B4-BE49-F238E27FC236}">
                <a16:creationId xmlns:a16="http://schemas.microsoft.com/office/drawing/2014/main" id="{25183D00-F73A-90D2-C633-9F6A7A997DB8}"/>
              </a:ext>
            </a:extLst>
          </p:cNvPr>
          <p:cNvPicPr>
            <a:picLocks noGrp="1" noChangeAspect="1"/>
          </p:cNvPicPr>
          <p:nvPr>
            <p:ph sz="half" idx="1"/>
          </p:nvPr>
        </p:nvPicPr>
        <p:blipFill>
          <a:blip r:embed="rId2"/>
          <a:stretch>
            <a:fillRect/>
          </a:stretch>
        </p:blipFill>
        <p:spPr>
          <a:xfrm>
            <a:off x="7108724" y="2084438"/>
            <a:ext cx="4149212" cy="2212259"/>
          </a:xfrm>
          <a:prstGeom prst="rect">
            <a:avLst/>
          </a:prstGeom>
          <a:noFill/>
        </p:spPr>
      </p:pic>
      <p:sp>
        <p:nvSpPr>
          <p:cNvPr id="3" name="Content Placeholder 2">
            <a:extLst>
              <a:ext uri="{FF2B5EF4-FFF2-40B4-BE49-F238E27FC236}">
                <a16:creationId xmlns:a16="http://schemas.microsoft.com/office/drawing/2014/main" id="{7AC6D4C7-5EE6-87A5-2E29-EEBAB8997106}"/>
              </a:ext>
            </a:extLst>
          </p:cNvPr>
          <p:cNvSpPr>
            <a:spLocks noGrp="1"/>
          </p:cNvSpPr>
          <p:nvPr>
            <p:ph sz="half" idx="2"/>
          </p:nvPr>
        </p:nvSpPr>
        <p:spPr>
          <a:xfrm>
            <a:off x="7256206" y="4435111"/>
            <a:ext cx="4699819" cy="1946023"/>
          </a:xfrm>
        </p:spPr>
        <p:txBody>
          <a:bodyPr>
            <a:normAutofit fontScale="85000" lnSpcReduction="20000"/>
          </a:bodyPr>
          <a:lstStyle/>
          <a:p>
            <a:r>
              <a:rPr lang="en-IN" sz="1800" b="1" dirty="0"/>
              <a:t>Observation</a:t>
            </a:r>
          </a:p>
          <a:p>
            <a:pPr>
              <a:buFont typeface="Wingdings" panose="05000000000000000000" pitchFamily="2" charset="2"/>
              <a:buChar char="§"/>
            </a:pPr>
            <a:r>
              <a:rPr lang="en-IN" sz="1800" dirty="0"/>
              <a:t> Highest attrition is observed among employees aged </a:t>
            </a:r>
            <a:r>
              <a:rPr lang="en-IN" sz="1800" b="1" dirty="0"/>
              <a:t>26–35 years</a:t>
            </a:r>
            <a:r>
              <a:rPr lang="en-IN" sz="1800" dirty="0"/>
              <a:t>. </a:t>
            </a:r>
          </a:p>
          <a:p>
            <a:pPr>
              <a:buFont typeface="Wingdings" panose="05000000000000000000" pitchFamily="2" charset="2"/>
              <a:buChar char="§"/>
            </a:pPr>
            <a:r>
              <a:rPr lang="en-IN" sz="1800" dirty="0"/>
              <a:t> Attrition decreases as employee age increases. </a:t>
            </a:r>
          </a:p>
          <a:p>
            <a:pPr>
              <a:buFont typeface="Wingdings" panose="05000000000000000000" pitchFamily="2" charset="2"/>
              <a:buChar char="§"/>
            </a:pPr>
            <a:r>
              <a:rPr lang="en-IN" sz="1800" dirty="0"/>
              <a:t> Younger employees may be more likely to switch jobs for career advancement and better compensation. </a:t>
            </a:r>
          </a:p>
          <a:p>
            <a:endParaRPr lang="en-IN" dirty="0"/>
          </a:p>
        </p:txBody>
      </p:sp>
      <p:pic>
        <p:nvPicPr>
          <p:cNvPr id="5" name="Picture 4">
            <a:extLst>
              <a:ext uri="{FF2B5EF4-FFF2-40B4-BE49-F238E27FC236}">
                <a16:creationId xmlns:a16="http://schemas.microsoft.com/office/drawing/2014/main" id="{AA583B9D-B44D-0796-3777-5951EA357ECD}"/>
              </a:ext>
            </a:extLst>
          </p:cNvPr>
          <p:cNvPicPr>
            <a:picLocks noChangeAspect="1"/>
          </p:cNvPicPr>
          <p:nvPr/>
        </p:nvPicPr>
        <p:blipFill>
          <a:blip r:embed="rId3"/>
          <a:stretch>
            <a:fillRect/>
          </a:stretch>
        </p:blipFill>
        <p:spPr>
          <a:xfrm>
            <a:off x="754075" y="2084438"/>
            <a:ext cx="5784377" cy="4218038"/>
          </a:xfrm>
          <a:prstGeom prst="rect">
            <a:avLst/>
          </a:prstGeom>
        </p:spPr>
      </p:pic>
    </p:spTree>
    <p:extLst>
      <p:ext uri="{BB962C8B-B14F-4D97-AF65-F5344CB8AC3E}">
        <p14:creationId xmlns:p14="http://schemas.microsoft.com/office/powerpoint/2010/main" val="3684731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250F8-08B9-D037-9DAE-2BB76E9CC580}"/>
              </a:ext>
            </a:extLst>
          </p:cNvPr>
          <p:cNvSpPr>
            <a:spLocks noGrp="1"/>
          </p:cNvSpPr>
          <p:nvPr>
            <p:ph type="title"/>
          </p:nvPr>
        </p:nvSpPr>
        <p:spPr/>
        <p:txBody>
          <a:bodyPr>
            <a:normAutofit/>
          </a:bodyPr>
          <a:lstStyle/>
          <a:p>
            <a:r>
              <a:rPr lang="en-IN" sz="4400" b="1" i="1" dirty="0">
                <a:solidFill>
                  <a:schemeClr val="accent1"/>
                </a:solidFill>
                <a:latin typeface="+mn-lt"/>
              </a:rPr>
              <a:t>Attrition by Years at Company </a:t>
            </a:r>
          </a:p>
        </p:txBody>
      </p:sp>
      <p:sp>
        <p:nvSpPr>
          <p:cNvPr id="3" name="Content Placeholder 2">
            <a:extLst>
              <a:ext uri="{FF2B5EF4-FFF2-40B4-BE49-F238E27FC236}">
                <a16:creationId xmlns:a16="http://schemas.microsoft.com/office/drawing/2014/main" id="{7A6618CE-06DE-2038-529C-152285ACEE96}"/>
              </a:ext>
            </a:extLst>
          </p:cNvPr>
          <p:cNvSpPr>
            <a:spLocks noGrp="1"/>
          </p:cNvSpPr>
          <p:nvPr>
            <p:ph sz="half" idx="1"/>
          </p:nvPr>
        </p:nvSpPr>
        <p:spPr/>
        <p:txBody>
          <a:bodyPr/>
          <a:lstStyle/>
          <a:p>
            <a:r>
              <a:rPr lang="en-IN" sz="2000" b="1" dirty="0"/>
              <a:t>Observation </a:t>
            </a:r>
          </a:p>
          <a:p>
            <a:pPr>
              <a:buFont typeface="Wingdings" panose="05000000000000000000" pitchFamily="2" charset="2"/>
              <a:buChar char="q"/>
            </a:pPr>
            <a:r>
              <a:rPr lang="en-IN" dirty="0"/>
              <a:t> </a:t>
            </a:r>
            <a:r>
              <a:rPr lang="en-IN" sz="1800" dirty="0"/>
              <a:t>Employees with fewer years in the</a:t>
            </a:r>
            <a:br>
              <a:rPr lang="en-IN" sz="1800" dirty="0"/>
            </a:br>
            <a:r>
              <a:rPr lang="en-IN" sz="1800" dirty="0"/>
              <a:t>company leave more frequently.</a:t>
            </a:r>
          </a:p>
          <a:p>
            <a:pPr>
              <a:buFont typeface="Wingdings" panose="05000000000000000000" pitchFamily="2" charset="2"/>
              <a:buChar char="q"/>
            </a:pPr>
            <a:r>
              <a:rPr lang="en-IN" sz="1800" dirty="0"/>
              <a:t> There is a massive, disproportionate spike in attrition among employees who have been with the company for </a:t>
            </a:r>
            <a:r>
              <a:rPr lang="en-IN" sz="1800" b="1" dirty="0"/>
              <a:t>less than 2 years</a:t>
            </a:r>
            <a:r>
              <a:rPr lang="en-IN" sz="1800" dirty="0"/>
              <a:t>.</a:t>
            </a:r>
          </a:p>
        </p:txBody>
      </p:sp>
      <p:pic>
        <p:nvPicPr>
          <p:cNvPr id="7" name="Content Placeholder 6">
            <a:extLst>
              <a:ext uri="{FF2B5EF4-FFF2-40B4-BE49-F238E27FC236}">
                <a16:creationId xmlns:a16="http://schemas.microsoft.com/office/drawing/2014/main" id="{96F30F9E-1E70-E497-5BD1-CDBD32896A7A}"/>
              </a:ext>
            </a:extLst>
          </p:cNvPr>
          <p:cNvPicPr>
            <a:picLocks noGrp="1" noChangeAspect="1"/>
          </p:cNvPicPr>
          <p:nvPr>
            <p:ph sz="half" idx="2"/>
          </p:nvPr>
        </p:nvPicPr>
        <p:blipFill>
          <a:blip r:embed="rId2"/>
          <a:stretch>
            <a:fillRect/>
          </a:stretch>
        </p:blipFill>
        <p:spPr>
          <a:xfrm>
            <a:off x="6096000" y="2120900"/>
            <a:ext cx="5466735" cy="4122583"/>
          </a:xfrm>
          <a:prstGeom prst="rect">
            <a:avLst/>
          </a:prstGeom>
        </p:spPr>
      </p:pic>
    </p:spTree>
    <p:extLst>
      <p:ext uri="{BB962C8B-B14F-4D97-AF65-F5344CB8AC3E}">
        <p14:creationId xmlns:p14="http://schemas.microsoft.com/office/powerpoint/2010/main" val="2392195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8A13-B202-3BE8-867D-01379016F4E4}"/>
              </a:ext>
            </a:extLst>
          </p:cNvPr>
          <p:cNvSpPr>
            <a:spLocks noGrp="1"/>
          </p:cNvSpPr>
          <p:nvPr>
            <p:ph type="title"/>
          </p:nvPr>
        </p:nvSpPr>
        <p:spPr/>
        <p:txBody>
          <a:bodyPr>
            <a:normAutofit/>
          </a:bodyPr>
          <a:lstStyle/>
          <a:p>
            <a:r>
              <a:rPr lang="en-IN" sz="4400" b="1" i="1" dirty="0">
                <a:solidFill>
                  <a:schemeClr val="accent1"/>
                </a:solidFill>
                <a:latin typeface="+mn-lt"/>
              </a:rPr>
              <a:t>Attrition by Job Level</a:t>
            </a:r>
            <a:endParaRPr lang="en-IN" sz="4400" dirty="0">
              <a:latin typeface="+mn-lt"/>
            </a:endParaRPr>
          </a:p>
        </p:txBody>
      </p:sp>
      <p:pic>
        <p:nvPicPr>
          <p:cNvPr id="6" name="Content Placeholder 5">
            <a:extLst>
              <a:ext uri="{FF2B5EF4-FFF2-40B4-BE49-F238E27FC236}">
                <a16:creationId xmlns:a16="http://schemas.microsoft.com/office/drawing/2014/main" id="{7FBAA3FB-4C6D-21CC-EA13-CF3ED3EAC0E0}"/>
              </a:ext>
            </a:extLst>
          </p:cNvPr>
          <p:cNvPicPr>
            <a:picLocks noGrp="1" noChangeAspect="1"/>
          </p:cNvPicPr>
          <p:nvPr>
            <p:ph sz="half" idx="1"/>
          </p:nvPr>
        </p:nvPicPr>
        <p:blipFill>
          <a:blip r:embed="rId2"/>
          <a:stretch>
            <a:fillRect/>
          </a:stretch>
        </p:blipFill>
        <p:spPr>
          <a:xfrm>
            <a:off x="717754" y="2222090"/>
            <a:ext cx="6066504" cy="3952568"/>
          </a:xfrm>
          <a:prstGeom prst="rect">
            <a:avLst/>
          </a:prstGeom>
        </p:spPr>
      </p:pic>
      <p:sp>
        <p:nvSpPr>
          <p:cNvPr id="4" name="Content Placeholder 3">
            <a:extLst>
              <a:ext uri="{FF2B5EF4-FFF2-40B4-BE49-F238E27FC236}">
                <a16:creationId xmlns:a16="http://schemas.microsoft.com/office/drawing/2014/main" id="{2AD55793-6D2A-BE6F-3B16-57A4DACDC11C}"/>
              </a:ext>
            </a:extLst>
          </p:cNvPr>
          <p:cNvSpPr>
            <a:spLocks noGrp="1"/>
          </p:cNvSpPr>
          <p:nvPr>
            <p:ph sz="half" idx="2"/>
          </p:nvPr>
        </p:nvSpPr>
        <p:spPr>
          <a:xfrm>
            <a:off x="7305368" y="2120900"/>
            <a:ext cx="4542502" cy="3748194"/>
          </a:xfrm>
        </p:spPr>
        <p:txBody>
          <a:bodyPr/>
          <a:lstStyle/>
          <a:p>
            <a:r>
              <a:rPr lang="en-IN" b="1" dirty="0"/>
              <a:t>Observation</a:t>
            </a:r>
            <a:endParaRPr lang="en-IN" dirty="0"/>
          </a:p>
          <a:p>
            <a:r>
              <a:rPr lang="en-IN" sz="1600" b="1" dirty="0"/>
              <a:t>Level 1:</a:t>
            </a:r>
            <a:r>
              <a:rPr lang="en-IN" sz="1600" dirty="0"/>
              <a:t> Highest attrition (</a:t>
            </a:r>
            <a:r>
              <a:rPr lang="en-IN" sz="1600" b="1" dirty="0"/>
              <a:t>25–30%</a:t>
            </a:r>
            <a:r>
              <a:rPr lang="en-IN" sz="1600" dirty="0"/>
              <a:t>); entry-level employees are most likely to leave.</a:t>
            </a:r>
          </a:p>
          <a:p>
            <a:r>
              <a:rPr lang="en-IN" sz="1600" b="1" dirty="0"/>
              <a:t>Levels 2 &amp; 3:</a:t>
            </a:r>
            <a:r>
              <a:rPr lang="en-IN" sz="1600" dirty="0"/>
              <a:t> Attrition drops (</a:t>
            </a:r>
            <a:r>
              <a:rPr lang="en-IN" sz="1600" b="1" dirty="0"/>
              <a:t>&lt;15%</a:t>
            </a:r>
            <a:r>
              <a:rPr lang="en-IN" sz="1600" dirty="0"/>
              <a:t>) due to career growth and better compensation.</a:t>
            </a:r>
          </a:p>
          <a:p>
            <a:r>
              <a:rPr lang="en-IN" sz="1600" b="1" dirty="0"/>
              <a:t>Levels 4 &amp; 5:</a:t>
            </a:r>
            <a:r>
              <a:rPr lang="en-IN" sz="1600" dirty="0"/>
              <a:t> Lowest attrition (</a:t>
            </a:r>
            <a:r>
              <a:rPr lang="en-IN" sz="1600" b="1" dirty="0"/>
              <a:t>&lt;5%</a:t>
            </a:r>
            <a:r>
              <a:rPr lang="en-IN" sz="1600" dirty="0"/>
              <a:t>), reflecting strong employee retention and organizational commitment.</a:t>
            </a:r>
          </a:p>
          <a:p>
            <a:endParaRPr lang="en-IN" dirty="0"/>
          </a:p>
        </p:txBody>
      </p:sp>
    </p:spTree>
    <p:extLst>
      <p:ext uri="{BB962C8B-B14F-4D97-AF65-F5344CB8AC3E}">
        <p14:creationId xmlns:p14="http://schemas.microsoft.com/office/powerpoint/2010/main" val="1240917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A78C2-2D34-5C69-EAA8-B3D7DEC6EDCE}"/>
              </a:ext>
            </a:extLst>
          </p:cNvPr>
          <p:cNvSpPr>
            <a:spLocks noGrp="1"/>
          </p:cNvSpPr>
          <p:nvPr>
            <p:ph type="title"/>
          </p:nvPr>
        </p:nvSpPr>
        <p:spPr>
          <a:xfrm>
            <a:off x="859775" y="730780"/>
            <a:ext cx="3517567" cy="1288223"/>
          </a:xfrm>
        </p:spPr>
        <p:txBody>
          <a:bodyPr/>
          <a:lstStyle/>
          <a:p>
            <a:r>
              <a:rPr lang="en-IN" b="1" i="1" dirty="0">
                <a:solidFill>
                  <a:schemeClr val="accent1"/>
                </a:solidFill>
              </a:rPr>
              <a:t>Key Insights</a:t>
            </a:r>
          </a:p>
        </p:txBody>
      </p:sp>
      <p:pic>
        <p:nvPicPr>
          <p:cNvPr id="6" name="Content Placeholder 5">
            <a:extLst>
              <a:ext uri="{FF2B5EF4-FFF2-40B4-BE49-F238E27FC236}">
                <a16:creationId xmlns:a16="http://schemas.microsoft.com/office/drawing/2014/main" id="{B387F73D-EECF-7EFC-358F-14D4C787412F}"/>
              </a:ext>
            </a:extLst>
          </p:cNvPr>
          <p:cNvPicPr>
            <a:picLocks noGrp="1" noChangeAspect="1"/>
          </p:cNvPicPr>
          <p:nvPr>
            <p:ph idx="1"/>
          </p:nvPr>
        </p:nvPicPr>
        <p:blipFill>
          <a:blip r:embed="rId2"/>
          <a:stretch>
            <a:fillRect/>
          </a:stretch>
        </p:blipFill>
        <p:spPr>
          <a:xfrm>
            <a:off x="4896464" y="206477"/>
            <a:ext cx="7049729" cy="6479457"/>
          </a:xfrm>
          <a:prstGeom prst="rect">
            <a:avLst/>
          </a:prstGeom>
        </p:spPr>
      </p:pic>
      <p:sp>
        <p:nvSpPr>
          <p:cNvPr id="4" name="Text Placeholder 3">
            <a:extLst>
              <a:ext uri="{FF2B5EF4-FFF2-40B4-BE49-F238E27FC236}">
                <a16:creationId xmlns:a16="http://schemas.microsoft.com/office/drawing/2014/main" id="{53B31EDC-DE64-232A-ECC4-7B4F181A6F60}"/>
              </a:ext>
            </a:extLst>
          </p:cNvPr>
          <p:cNvSpPr>
            <a:spLocks noGrp="1"/>
          </p:cNvSpPr>
          <p:nvPr>
            <p:ph type="body" sz="half" idx="2"/>
          </p:nvPr>
        </p:nvSpPr>
        <p:spPr>
          <a:xfrm>
            <a:off x="643465" y="2271252"/>
            <a:ext cx="3517567" cy="4129548"/>
          </a:xfrm>
        </p:spPr>
        <p:txBody>
          <a:bodyPr>
            <a:normAutofit fontScale="85000" lnSpcReduction="20000"/>
          </a:bodyPr>
          <a:lstStyle/>
          <a:p>
            <a:pPr marL="285750" indent="-285750">
              <a:buFont typeface="Wingdings" panose="05000000000000000000" pitchFamily="2" charset="2"/>
              <a:buChar char="ü"/>
            </a:pPr>
            <a:r>
              <a:rPr lang="en-IN" dirty="0"/>
              <a:t>Attrition Rate = 16.1%</a:t>
            </a:r>
          </a:p>
          <a:p>
            <a:pPr marL="285750" indent="-285750">
              <a:buFont typeface="Wingdings" panose="05000000000000000000" pitchFamily="2" charset="2"/>
              <a:buChar char="ü"/>
            </a:pPr>
            <a:r>
              <a:rPr lang="en-IN" dirty="0"/>
              <a:t>Research &amp; Development department has highest attrition</a:t>
            </a:r>
          </a:p>
          <a:p>
            <a:pPr marL="285750" indent="-285750">
              <a:buFont typeface="Wingdings" panose="05000000000000000000" pitchFamily="2" charset="2"/>
              <a:buChar char="ü"/>
            </a:pPr>
            <a:r>
              <a:rPr lang="en-IN" dirty="0"/>
              <a:t>Overtime strongly impacts attrition</a:t>
            </a:r>
          </a:p>
          <a:p>
            <a:pPr marL="285750" indent="-285750">
              <a:buFont typeface="Wingdings" panose="05000000000000000000" pitchFamily="2" charset="2"/>
              <a:buChar char="ü"/>
            </a:pPr>
            <a:r>
              <a:rPr lang="en-IN" dirty="0"/>
              <a:t>Lower salary increases turnover</a:t>
            </a:r>
          </a:p>
          <a:p>
            <a:pPr marL="285750" indent="-285750">
              <a:buFont typeface="Wingdings" panose="05000000000000000000" pitchFamily="2" charset="2"/>
              <a:buChar char="ü"/>
            </a:pPr>
            <a:r>
              <a:rPr lang="en-IN" dirty="0"/>
              <a:t>Employees with fewer years in the</a:t>
            </a:r>
            <a:br>
              <a:rPr lang="en-IN" dirty="0"/>
            </a:br>
            <a:r>
              <a:rPr lang="en-IN" dirty="0"/>
              <a:t>company leave more frequently</a:t>
            </a:r>
          </a:p>
          <a:p>
            <a:pPr marL="285750" indent="-285750">
              <a:buFont typeface="Wingdings" panose="05000000000000000000" pitchFamily="2" charset="2"/>
              <a:buChar char="ü"/>
            </a:pPr>
            <a:r>
              <a:rPr lang="en-IN" dirty="0"/>
              <a:t>Low job satisfaction contributes</a:t>
            </a:r>
            <a:br>
              <a:rPr lang="en-IN" dirty="0"/>
            </a:br>
            <a:r>
              <a:rPr lang="en-IN" dirty="0"/>
              <a:t>to attrition</a:t>
            </a:r>
          </a:p>
          <a:p>
            <a:pPr marL="285750" indent="-285750">
              <a:buFont typeface="Wingdings" panose="05000000000000000000" pitchFamily="2" charset="2"/>
              <a:buChar char="ü"/>
            </a:pPr>
            <a:r>
              <a:rPr lang="en-IN" dirty="0"/>
              <a:t>Highest attrition is observed among employees aged </a:t>
            </a:r>
            <a:r>
              <a:rPr lang="en-IN" b="1" dirty="0"/>
              <a:t>26–35 years</a:t>
            </a:r>
          </a:p>
          <a:p>
            <a:pPr marL="285750" indent="-285750">
              <a:buFont typeface="Wingdings" panose="05000000000000000000" pitchFamily="2" charset="2"/>
              <a:buChar char="ü"/>
            </a:pPr>
            <a:r>
              <a:rPr lang="en-IN" dirty="0"/>
              <a:t>Entry-level employees are the most likely to leave.</a:t>
            </a:r>
          </a:p>
          <a:p>
            <a:endParaRPr lang="en-IN" dirty="0"/>
          </a:p>
          <a:p>
            <a:endParaRPr lang="en-IN" dirty="0"/>
          </a:p>
        </p:txBody>
      </p:sp>
    </p:spTree>
    <p:extLst>
      <p:ext uri="{BB962C8B-B14F-4D97-AF65-F5344CB8AC3E}">
        <p14:creationId xmlns:p14="http://schemas.microsoft.com/office/powerpoint/2010/main" val="2388478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246C-F173-CA91-4FF3-5A61C6ED75D9}"/>
              </a:ext>
            </a:extLst>
          </p:cNvPr>
          <p:cNvSpPr>
            <a:spLocks noGrp="1"/>
          </p:cNvSpPr>
          <p:nvPr>
            <p:ph type="title"/>
          </p:nvPr>
        </p:nvSpPr>
        <p:spPr/>
        <p:txBody>
          <a:bodyPr>
            <a:normAutofit/>
          </a:bodyPr>
          <a:lstStyle/>
          <a:p>
            <a:r>
              <a:rPr lang="en-IN" sz="4400" b="1" dirty="0">
                <a:solidFill>
                  <a:schemeClr val="accent1"/>
                </a:solidFill>
                <a:latin typeface="+mn-lt"/>
              </a:rPr>
              <a:t>CONCLUSION</a:t>
            </a:r>
            <a:endParaRPr lang="en-IN" sz="4400" dirty="0">
              <a:latin typeface="+mn-lt"/>
            </a:endParaRPr>
          </a:p>
        </p:txBody>
      </p:sp>
      <p:sp>
        <p:nvSpPr>
          <p:cNvPr id="3" name="Content Placeholder 2">
            <a:extLst>
              <a:ext uri="{FF2B5EF4-FFF2-40B4-BE49-F238E27FC236}">
                <a16:creationId xmlns:a16="http://schemas.microsoft.com/office/drawing/2014/main" id="{E7BB60C3-1730-5C89-E23A-FB008320C7FD}"/>
              </a:ext>
            </a:extLst>
          </p:cNvPr>
          <p:cNvSpPr>
            <a:spLocks noGrp="1"/>
          </p:cNvSpPr>
          <p:nvPr>
            <p:ph sz="half" idx="1"/>
          </p:nvPr>
        </p:nvSpPr>
        <p:spPr/>
        <p:txBody>
          <a:bodyPr>
            <a:normAutofit fontScale="92500" lnSpcReduction="20000"/>
          </a:bodyPr>
          <a:lstStyle/>
          <a:p>
            <a:r>
              <a:rPr lang="en-IN" dirty="0"/>
              <a:t>Employee attrition is influenced by</a:t>
            </a:r>
            <a:br>
              <a:rPr lang="en-IN" dirty="0"/>
            </a:br>
            <a:r>
              <a:rPr lang="en-IN" dirty="0"/>
              <a:t>multiple factors such as</a:t>
            </a:r>
            <a:br>
              <a:rPr lang="en-IN" dirty="0"/>
            </a:br>
            <a:br>
              <a:rPr lang="en-IN" dirty="0"/>
            </a:br>
            <a:r>
              <a:rPr lang="en-IN" dirty="0"/>
              <a:t>• Salary</a:t>
            </a:r>
            <a:br>
              <a:rPr lang="en-IN" dirty="0"/>
            </a:br>
            <a:br>
              <a:rPr lang="en-IN" dirty="0"/>
            </a:br>
            <a:r>
              <a:rPr lang="en-IN" dirty="0"/>
              <a:t>• Overtime</a:t>
            </a:r>
            <a:br>
              <a:rPr lang="en-IN" dirty="0"/>
            </a:br>
            <a:br>
              <a:rPr lang="en-IN" dirty="0"/>
            </a:br>
            <a:r>
              <a:rPr lang="en-IN" dirty="0"/>
              <a:t>• Age group</a:t>
            </a:r>
            <a:br>
              <a:rPr lang="en-IN" dirty="0"/>
            </a:br>
            <a:br>
              <a:rPr lang="en-IN" dirty="0"/>
            </a:br>
            <a:r>
              <a:rPr lang="en-IN" dirty="0"/>
              <a:t>• Job Satisfaction</a:t>
            </a:r>
            <a:br>
              <a:rPr lang="en-IN" dirty="0"/>
            </a:br>
            <a:br>
              <a:rPr lang="en-IN" dirty="0"/>
            </a:br>
            <a:r>
              <a:rPr lang="en-IN" dirty="0"/>
              <a:t>Using HR analytics enables organizations</a:t>
            </a:r>
            <a:br>
              <a:rPr lang="en-IN" dirty="0"/>
            </a:br>
            <a:r>
              <a:rPr lang="en-IN" dirty="0"/>
              <a:t>to make informed decisions that improve</a:t>
            </a:r>
            <a:br>
              <a:rPr lang="en-IN" dirty="0"/>
            </a:br>
            <a:r>
              <a:rPr lang="en-IN" dirty="0"/>
              <a:t>employee retention.</a:t>
            </a:r>
          </a:p>
        </p:txBody>
      </p:sp>
      <p:pic>
        <p:nvPicPr>
          <p:cNvPr id="6" name="Content Placeholder 5">
            <a:extLst>
              <a:ext uri="{FF2B5EF4-FFF2-40B4-BE49-F238E27FC236}">
                <a16:creationId xmlns:a16="http://schemas.microsoft.com/office/drawing/2014/main" id="{F3AE040D-3FC4-3E77-3B70-3F566F9B15AB}"/>
              </a:ext>
            </a:extLst>
          </p:cNvPr>
          <p:cNvPicPr>
            <a:picLocks noGrp="1" noChangeAspect="1"/>
          </p:cNvPicPr>
          <p:nvPr>
            <p:ph sz="half" idx="2"/>
          </p:nvPr>
        </p:nvPicPr>
        <p:blipFill>
          <a:blip r:embed="rId2">
            <a:extLst>
              <a:ext uri="{837473B0-CC2E-450A-ABE3-18F120FF3D39}">
                <a1611:picAttrSrcUrl xmlns:a1611="http://schemas.microsoft.com/office/drawing/2016/11/main" r:id="rId3"/>
              </a:ext>
            </a:extLst>
          </a:blip>
          <a:stretch>
            <a:fillRect/>
          </a:stretch>
        </p:blipFill>
        <p:spPr>
          <a:xfrm>
            <a:off x="6516688" y="2685641"/>
            <a:ext cx="4638675" cy="2618606"/>
          </a:xfrm>
        </p:spPr>
      </p:pic>
    </p:spTree>
    <p:extLst>
      <p:ext uri="{BB962C8B-B14F-4D97-AF65-F5344CB8AC3E}">
        <p14:creationId xmlns:p14="http://schemas.microsoft.com/office/powerpoint/2010/main" val="2636613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E708-AAC2-C780-2FFB-9E3E6DE59BE1}"/>
              </a:ext>
            </a:extLst>
          </p:cNvPr>
          <p:cNvSpPr>
            <a:spLocks noGrp="1"/>
          </p:cNvSpPr>
          <p:nvPr>
            <p:ph type="title"/>
          </p:nvPr>
        </p:nvSpPr>
        <p:spPr/>
        <p:txBody>
          <a:bodyPr>
            <a:normAutofit/>
          </a:bodyPr>
          <a:lstStyle/>
          <a:p>
            <a:r>
              <a:rPr lang="en-IN" sz="4400" i="1" dirty="0">
                <a:solidFill>
                  <a:schemeClr val="accent1"/>
                </a:solidFill>
                <a:latin typeface="+mn-lt"/>
              </a:rPr>
              <a:t>Suggestions</a:t>
            </a:r>
            <a:endParaRPr lang="en-IN" sz="4400" b="1" i="1" dirty="0">
              <a:solidFill>
                <a:schemeClr val="accent1"/>
              </a:solidFill>
              <a:latin typeface="+mn-lt"/>
            </a:endParaRPr>
          </a:p>
        </p:txBody>
      </p:sp>
      <p:sp>
        <p:nvSpPr>
          <p:cNvPr id="3" name="Content Placeholder 2">
            <a:extLst>
              <a:ext uri="{FF2B5EF4-FFF2-40B4-BE49-F238E27FC236}">
                <a16:creationId xmlns:a16="http://schemas.microsoft.com/office/drawing/2014/main" id="{88196C78-D481-311A-ED67-75888468F86F}"/>
              </a:ext>
            </a:extLst>
          </p:cNvPr>
          <p:cNvSpPr>
            <a:spLocks noGrp="1"/>
          </p:cNvSpPr>
          <p:nvPr>
            <p:ph idx="1"/>
          </p:nvPr>
        </p:nvSpPr>
        <p:spPr/>
        <p:txBody>
          <a:bodyPr>
            <a:normAutofit lnSpcReduction="10000"/>
          </a:bodyPr>
          <a:lstStyle/>
          <a:p>
            <a:r>
              <a:rPr lang="en-IN" dirty="0"/>
              <a:t>To have a low attrition rate, it is important for companies to:</a:t>
            </a:r>
          </a:p>
          <a:p>
            <a:pPr marL="457200" indent="-457200">
              <a:buFont typeface="+mj-lt"/>
              <a:buAutoNum type="arabicPeriod"/>
            </a:pPr>
            <a:r>
              <a:rPr lang="en-IN" dirty="0"/>
              <a:t>Fairly pay employees in same job level, same job involvement, same job role with almost equal monthly income and stocks.</a:t>
            </a:r>
          </a:p>
          <a:p>
            <a:pPr marL="457200" indent="-457200">
              <a:buFont typeface="+mj-lt"/>
              <a:buAutoNum type="arabicPeriod"/>
            </a:pPr>
            <a:r>
              <a:rPr lang="en-IN" dirty="0"/>
              <a:t>Offer competitive compensation and performance-based rewards.</a:t>
            </a:r>
          </a:p>
          <a:p>
            <a:pPr marL="457200" indent="-457200">
              <a:buFont typeface="+mj-lt"/>
              <a:buAutoNum type="arabicPeriod"/>
            </a:pPr>
            <a:r>
              <a:rPr lang="en-IN" dirty="0"/>
              <a:t>Increase allowance for employees to work overtime, and make sure that those working overtime is being paid more than those who are not.</a:t>
            </a:r>
          </a:p>
          <a:p>
            <a:pPr marL="457200" indent="-457200">
              <a:buFont typeface="+mj-lt"/>
              <a:buAutoNum type="arabicPeriod"/>
            </a:pPr>
            <a:r>
              <a:rPr lang="en-IN" dirty="0"/>
              <a:t>Improve retention strategies for entry-level employees.</a:t>
            </a:r>
          </a:p>
          <a:p>
            <a:pPr marL="457200" indent="-457200">
              <a:buFont typeface="+mj-lt"/>
              <a:buAutoNum type="arabicPeriod"/>
            </a:pPr>
            <a:r>
              <a:rPr lang="en-IN" dirty="0"/>
              <a:t>Also, companies should remember to appreciate their employees and work on the harmonic balance of their company.</a:t>
            </a:r>
          </a:p>
          <a:p>
            <a:endParaRPr lang="en-IN" dirty="0"/>
          </a:p>
        </p:txBody>
      </p:sp>
    </p:spTree>
    <p:extLst>
      <p:ext uri="{BB962C8B-B14F-4D97-AF65-F5344CB8AC3E}">
        <p14:creationId xmlns:p14="http://schemas.microsoft.com/office/powerpoint/2010/main" val="4233966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lgn="ctr"/>
            <a:r>
              <a:rPr lang="en-US" sz="6600" i="1" dirty="0">
                <a:solidFill>
                  <a:srgbClr val="FFFFFF"/>
                </a:solidFill>
              </a:rPr>
              <a:t>Thank You</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117173770"/>
      </p:ext>
    </p:extLst>
  </p:cSld>
  <p:clrMapOvr>
    <a:masterClrMapping/>
  </p:clrMapOvr>
</p:sld>
</file>

<file path=ppt/theme/theme1.xml><?xml version="1.0" encoding="utf-8"?>
<a:theme xmlns:a="http://schemas.openxmlformats.org/drawingml/2006/main" name="Custom">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{62BA5222-2A80-4BBB-80B6-207F05AA765E}TFb63a7776-4452-49b2-8055-21efce632b726e3c8758_win32-7d1db0309ca7</Template>
  <TotalTime>5230</TotalTime>
  <Words>1023</Words>
  <Application>Microsoft Office PowerPoint</Application>
  <PresentationFormat>Widescreen</PresentationFormat>
  <Paragraphs>123</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vt:lpstr>
      <vt:lpstr>Bookman Old Style</vt:lpstr>
      <vt:lpstr>Calibri</vt:lpstr>
      <vt:lpstr>Franklin Gothic Book</vt:lpstr>
      <vt:lpstr>Wingdings</vt:lpstr>
      <vt:lpstr>Custom</vt:lpstr>
      <vt:lpstr>PROJECT :  HR EMPLOYEE ATTRITION ANALYSIS</vt:lpstr>
      <vt:lpstr>CONTENT</vt:lpstr>
      <vt:lpstr>INTRODUCTION</vt:lpstr>
      <vt:lpstr>PROBLEM STATEMENT</vt:lpstr>
      <vt:lpstr>DATASET DESCRIPTION</vt:lpstr>
      <vt:lpstr>DATASET CLEANING</vt:lpstr>
      <vt:lpstr>DATASET CLEANING</vt:lpstr>
      <vt:lpstr>Outlier Analysis</vt:lpstr>
      <vt:lpstr>EXPLORATORY DATA ANALYSIS</vt:lpstr>
      <vt:lpstr>Descriptive Analysis</vt:lpstr>
      <vt:lpstr>Overall Employee Attrition</vt:lpstr>
      <vt:lpstr>Attrition by Department</vt:lpstr>
      <vt:lpstr>Attrition by Job Role</vt:lpstr>
      <vt:lpstr>Attrition by Monthly Income </vt:lpstr>
      <vt:lpstr>Attrition by Overtime</vt:lpstr>
      <vt:lpstr>Attrition by Age</vt:lpstr>
      <vt:lpstr>Attrition by Years at Company </vt:lpstr>
      <vt:lpstr>Attrition by Job Level</vt:lpstr>
      <vt:lpstr>Key Insights</vt:lpstr>
      <vt:lpstr>CONCLUSION</vt:lpstr>
      <vt:lpstr>Suggestions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Panna Chetry</dc:creator>
  <cp:lastModifiedBy>Panna Chetry</cp:lastModifiedBy>
  <cp:revision>2</cp:revision>
  <dcterms:created xsi:type="dcterms:W3CDTF">2026-07-05T19:07:39Z</dcterms:created>
  <dcterms:modified xsi:type="dcterms:W3CDTF">2026-07-12T08:44:27Z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